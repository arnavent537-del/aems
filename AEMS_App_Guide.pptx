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0" y="731520"/>
            <a:ext cx="9144000" cy="1280160"/>
          </a:xfrm>
          <a:prstGeom prst="rect">
            <a:avLst/>
          </a:prstGeom>
          <a:noFill/>
          <a:ln/>
        </p:spPr>
        <p:txBody>
          <a:bodyPr wrap="square" rtlCol="0" anchor="ctr"/>
          <a:lstStyle/>
          <a:p>
            <a:pPr algn="ctr" indent="0" marL="0">
              <a:buNone/>
            </a:pPr>
            <a:r>
              <a:rPr lang="en-US" sz="6400" b="1" dirty="0">
                <a:solidFill>
                  <a:srgbClr val="FFFFFF"/>
                </a:solidFill>
                <a:latin typeface="Cambria" pitchFamily="34" charset="0"/>
                <a:ea typeface="Cambria" pitchFamily="34" charset="-122"/>
                <a:cs typeface="Cambria" pitchFamily="34" charset="-120"/>
              </a:rPr>
              <a:t>AEMS</a:t>
            </a:r>
            <a:endParaRPr lang="en-US" sz="6400" dirty="0"/>
          </a:p>
        </p:txBody>
      </p:sp>
      <p:sp>
        <p:nvSpPr>
          <p:cNvPr id="3" name="Text 1"/>
          <p:cNvSpPr/>
          <p:nvPr/>
        </p:nvSpPr>
        <p:spPr>
          <a:xfrm>
            <a:off x="0" y="2011680"/>
            <a:ext cx="9144000" cy="548640"/>
          </a:xfrm>
          <a:prstGeom prst="rect">
            <a:avLst/>
          </a:prstGeom>
          <a:noFill/>
          <a:ln/>
        </p:spPr>
        <p:txBody>
          <a:bodyPr wrap="square" rtlCol="0" anchor="ctr"/>
          <a:lstStyle/>
          <a:p>
            <a:pPr algn="ctr" indent="0" marL="0">
              <a:buNone/>
            </a:pPr>
            <a:r>
              <a:rPr lang="en-US" sz="1800" dirty="0">
                <a:solidFill>
                  <a:srgbClr val="A5B4FC"/>
                </a:solidFill>
                <a:latin typeface="Calibri" pitchFamily="34" charset="0"/>
                <a:ea typeface="Calibri" pitchFamily="34" charset="-122"/>
                <a:cs typeface="Calibri" pitchFamily="34" charset="-120"/>
              </a:rPr>
              <a:t>Arnav Enterprises Management System</a:t>
            </a:r>
            <a:endParaRPr lang="en-US" sz="1800" dirty="0"/>
          </a:p>
        </p:txBody>
      </p:sp>
      <p:sp>
        <p:nvSpPr>
          <p:cNvPr id="4" name="Shape 2"/>
          <p:cNvSpPr/>
          <p:nvPr/>
        </p:nvSpPr>
        <p:spPr>
          <a:xfrm>
            <a:off x="3474720" y="2743200"/>
            <a:ext cx="2194560" cy="411480"/>
          </a:xfrm>
          <a:prstGeom prst="roundRect">
            <a:avLst>
              <a:gd name="adj" fmla="val 33333"/>
            </a:avLst>
          </a:prstGeom>
          <a:solidFill>
            <a:srgbClr val="4F46E5"/>
          </a:solidFill>
          <a:ln/>
        </p:spPr>
      </p:sp>
      <p:sp>
        <p:nvSpPr>
          <p:cNvPr id="5" name="Text 3"/>
          <p:cNvSpPr/>
          <p:nvPr/>
        </p:nvSpPr>
        <p:spPr>
          <a:xfrm>
            <a:off x="3474720" y="2743200"/>
            <a:ext cx="219456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App Usage Guide</a:t>
            </a:r>
            <a:endParaRPr lang="en-US" sz="1400" dirty="0"/>
          </a:p>
        </p:txBody>
      </p:sp>
      <p:sp>
        <p:nvSpPr>
          <p:cNvPr id="6" name="Text 4"/>
          <p:cNvSpPr/>
          <p:nvPr/>
        </p:nvSpPr>
        <p:spPr>
          <a:xfrm>
            <a:off x="0" y="4114800"/>
            <a:ext cx="9144000" cy="32004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www.arnav-enterprises.com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74320"/>
            <a:ext cx="7863840" cy="59436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AEMS kya hai?</a:t>
            </a:r>
            <a:endParaRPr lang="en-US" sz="2600" dirty="0"/>
          </a:p>
        </p:txBody>
      </p:sp>
      <p:sp>
        <p:nvSpPr>
          <p:cNvPr id="3" name="Text 1"/>
          <p:cNvSpPr/>
          <p:nvPr/>
        </p:nvSpPr>
        <p:spPr>
          <a:xfrm>
            <a:off x="640080" y="822960"/>
            <a:ext cx="7863840" cy="27432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Arnav Enterprises ka digital management platform</a:t>
            </a:r>
            <a:endParaRPr lang="en-US" sz="1200" dirty="0"/>
          </a:p>
        </p:txBody>
      </p:sp>
      <p:sp>
        <p:nvSpPr>
          <p:cNvPr id="4" name="Text 2"/>
          <p:cNvSpPr/>
          <p:nvPr/>
        </p:nvSpPr>
        <p:spPr>
          <a:xfrm>
            <a:off x="640080" y="1188720"/>
            <a:ext cx="7863840" cy="731520"/>
          </a:xfrm>
          <a:prstGeom prst="rect">
            <a:avLst/>
          </a:prstGeom>
          <a:noFill/>
          <a:ln/>
        </p:spPr>
        <p:txBody>
          <a:bodyPr wrap="square" rtlCol="0" anchor="t"/>
          <a:lstStyle/>
          <a:p>
            <a:pPr indent="0" marL="0">
              <a:buNone/>
            </a:pPr>
            <a:r>
              <a:rPr lang="en-US" sz="1300" dirty="0">
                <a:solidFill>
                  <a:srgbClr val="64748B"/>
                </a:solidFill>
                <a:latin typeface="Calibri" pitchFamily="34" charset="0"/>
                <a:ea typeface="Calibri" pitchFamily="34" charset="-122"/>
                <a:cs typeface="Calibri" pitchFamily="34" charset="-120"/>
              </a:rPr>
              <a:t>AEMS ek complete management system hai jo Arnav Enterprises ke daily operations ko digital banata hai. Is app ke through aap employees, attendance, salary, advances, clients aur compliance sab kuch manage kar sakte hain.</a:t>
            </a:r>
            <a:endParaRPr lang="en-US" sz="1300" dirty="0"/>
          </a:p>
        </p:txBody>
      </p:sp>
      <p:sp>
        <p:nvSpPr>
          <p:cNvPr id="5" name="Shape 3"/>
          <p:cNvSpPr/>
          <p:nvPr/>
        </p:nvSpPr>
        <p:spPr>
          <a:xfrm>
            <a:off x="640080" y="2194560"/>
            <a:ext cx="2377440" cy="1188720"/>
          </a:xfrm>
          <a:prstGeom prst="roundRect">
            <a:avLst>
              <a:gd name="adj" fmla="val 7692"/>
            </a:avLst>
          </a:prstGeom>
          <a:solidFill>
            <a:srgbClr val="FFFFFF"/>
          </a:solidFill>
          <a:ln w="12700">
            <a:solidFill>
              <a:srgbClr val="333333"/>
            </a:solidFill>
            <a:prstDash val="solid"/>
          </a:ln>
        </p:spPr>
      </p:sp>
      <p:sp>
        <p:nvSpPr>
          <p:cNvPr id="6" name="Text 4"/>
          <p:cNvSpPr/>
          <p:nvPr/>
        </p:nvSpPr>
        <p:spPr>
          <a:xfrm>
            <a:off x="822960" y="2304288"/>
            <a:ext cx="201168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Employee Management</a:t>
            </a:r>
            <a:endParaRPr lang="en-US" sz="1300" dirty="0"/>
          </a:p>
        </p:txBody>
      </p:sp>
      <p:sp>
        <p:nvSpPr>
          <p:cNvPr id="7" name="Text 5"/>
          <p:cNvSpPr/>
          <p:nvPr/>
        </p:nvSpPr>
        <p:spPr>
          <a:xfrm>
            <a:off x="822960" y="2560320"/>
            <a:ext cx="2011680" cy="68580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Naye employees add karein, records update karein, data export karein</a:t>
            </a:r>
            <a:endParaRPr lang="en-US" sz="1100" dirty="0"/>
          </a:p>
        </p:txBody>
      </p:sp>
      <p:sp>
        <p:nvSpPr>
          <p:cNvPr id="8" name="Shape 6"/>
          <p:cNvSpPr/>
          <p:nvPr/>
        </p:nvSpPr>
        <p:spPr>
          <a:xfrm>
            <a:off x="3383280" y="2194560"/>
            <a:ext cx="2377440" cy="1188720"/>
          </a:xfrm>
          <a:prstGeom prst="roundRect">
            <a:avLst>
              <a:gd name="adj" fmla="val 7692"/>
            </a:avLst>
          </a:prstGeom>
          <a:solidFill>
            <a:srgbClr val="FFFFFF"/>
          </a:solidFill>
          <a:ln w="12700">
            <a:solidFill>
              <a:srgbClr val="333333"/>
            </a:solidFill>
            <a:prstDash val="solid"/>
          </a:ln>
        </p:spPr>
      </p:sp>
      <p:sp>
        <p:nvSpPr>
          <p:cNvPr id="9" name="Text 7"/>
          <p:cNvSpPr/>
          <p:nvPr/>
        </p:nvSpPr>
        <p:spPr>
          <a:xfrm>
            <a:off x="3566160" y="2304288"/>
            <a:ext cx="201168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Attendance Tracking</a:t>
            </a:r>
            <a:endParaRPr lang="en-US" sz="1300" dirty="0"/>
          </a:p>
        </p:txBody>
      </p:sp>
      <p:sp>
        <p:nvSpPr>
          <p:cNvPr id="10" name="Text 8"/>
          <p:cNvSpPr/>
          <p:nvPr/>
        </p:nvSpPr>
        <p:spPr>
          <a:xfrm>
            <a:off x="3566160" y="2560320"/>
            <a:ext cx="2011680" cy="68580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Daily check-in/out with GPS location, monthly grid view</a:t>
            </a:r>
            <a:endParaRPr lang="en-US" sz="1100" dirty="0"/>
          </a:p>
        </p:txBody>
      </p:sp>
      <p:sp>
        <p:nvSpPr>
          <p:cNvPr id="11" name="Shape 9"/>
          <p:cNvSpPr/>
          <p:nvPr/>
        </p:nvSpPr>
        <p:spPr>
          <a:xfrm>
            <a:off x="6126480" y="2194560"/>
            <a:ext cx="2377440" cy="1188720"/>
          </a:xfrm>
          <a:prstGeom prst="roundRect">
            <a:avLst>
              <a:gd name="adj" fmla="val 7692"/>
            </a:avLst>
          </a:prstGeom>
          <a:solidFill>
            <a:srgbClr val="FFFFFF"/>
          </a:solidFill>
          <a:ln w="12700">
            <a:solidFill>
              <a:srgbClr val="333333"/>
            </a:solidFill>
            <a:prstDash val="solid"/>
          </a:ln>
        </p:spPr>
      </p:sp>
      <p:sp>
        <p:nvSpPr>
          <p:cNvPr id="12" name="Text 10"/>
          <p:cNvSpPr/>
          <p:nvPr/>
        </p:nvSpPr>
        <p:spPr>
          <a:xfrm>
            <a:off x="6309360" y="2304288"/>
            <a:ext cx="201168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Salary &amp; Advances</a:t>
            </a:r>
            <a:endParaRPr lang="en-US" sz="1300" dirty="0"/>
          </a:p>
        </p:txBody>
      </p:sp>
      <p:sp>
        <p:nvSpPr>
          <p:cNvPr id="13" name="Text 11"/>
          <p:cNvSpPr/>
          <p:nvPr/>
        </p:nvSpPr>
        <p:spPr>
          <a:xfrm>
            <a:off x="6309360" y="2560320"/>
            <a:ext cx="2011680" cy="68580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Monthly salary process karein, advances manage karein</a:t>
            </a:r>
            <a:endParaRPr lang="en-US" sz="1100" dirty="0"/>
          </a:p>
        </p:txBody>
      </p:sp>
      <p:sp>
        <p:nvSpPr>
          <p:cNvPr id="14" name="Text 12"/>
          <p:cNvSpPr/>
          <p:nvPr/>
        </p:nvSpPr>
        <p:spPr>
          <a:xfrm>
            <a:off x="640080" y="3840480"/>
            <a:ext cx="7863840" cy="320040"/>
          </a:xfrm>
          <a:prstGeom prst="rect">
            <a:avLst/>
          </a:prstGeom>
          <a:noFill/>
          <a:ln/>
        </p:spPr>
        <p:txBody>
          <a:bodyPr wrap="square" rtlCol="0" anchor="ctr"/>
          <a:lstStyle/>
          <a:p>
            <a:pPr algn="ctr" indent="0" marL="0">
              <a:buNone/>
            </a:pPr>
            <a:r>
              <a:rPr lang="en-US" sz="1200" b="1" dirty="0">
                <a:solidFill>
                  <a:srgbClr val="10B981"/>
                </a:solidFill>
                <a:latin typeface="Calibri" pitchFamily="34" charset="0"/>
                <a:ea typeface="Calibri" pitchFamily="34" charset="-122"/>
                <a:cs typeface="Calibri" pitchFamily="34" charset="-120"/>
              </a:rPr>
              <a:t>Browser se seedha access karein - koi app install karne ki zaroorat nahi!</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74320"/>
            <a:ext cx="7863840" cy="59436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App tak kaise pahunche?</a:t>
            </a:r>
            <a:endParaRPr lang="en-US" sz="2600" dirty="0"/>
          </a:p>
        </p:txBody>
      </p:sp>
      <p:sp>
        <p:nvSpPr>
          <p:cNvPr id="3" name="Text 1"/>
          <p:cNvSpPr/>
          <p:nvPr/>
        </p:nvSpPr>
        <p:spPr>
          <a:xfrm>
            <a:off x="640080" y="822960"/>
            <a:ext cx="7863840" cy="27432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PWA install karein ya browser mein use karein</a:t>
            </a:r>
            <a:endParaRPr lang="en-US" sz="1200" dirty="0"/>
          </a:p>
        </p:txBody>
      </p:sp>
      <p:sp>
        <p:nvSpPr>
          <p:cNvPr id="4" name="Shape 2"/>
          <p:cNvSpPr/>
          <p:nvPr/>
        </p:nvSpPr>
        <p:spPr>
          <a:xfrm>
            <a:off x="640080" y="1399032"/>
            <a:ext cx="365760" cy="365760"/>
          </a:xfrm>
          <a:prstGeom prst="ellipse">
            <a:avLst/>
          </a:prstGeom>
          <a:solidFill>
            <a:srgbClr val="4F46E5"/>
          </a:solidFill>
          <a:ln/>
        </p:spPr>
      </p:sp>
      <p:sp>
        <p:nvSpPr>
          <p:cNvPr id="5" name="Text 3"/>
          <p:cNvSpPr/>
          <p:nvPr/>
        </p:nvSpPr>
        <p:spPr>
          <a:xfrm>
            <a:off x="640080" y="1399032"/>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43000" y="1371600"/>
            <a:ext cx="3154680" cy="22860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Chrome browser kholein</a:t>
            </a:r>
            <a:endParaRPr lang="en-US" sz="1400" dirty="0"/>
          </a:p>
        </p:txBody>
      </p:sp>
      <p:sp>
        <p:nvSpPr>
          <p:cNvPr id="7" name="Text 5"/>
          <p:cNvSpPr/>
          <p:nvPr/>
        </p:nvSpPr>
        <p:spPr>
          <a:xfrm>
            <a:off x="1143000" y="1600200"/>
            <a:ext cx="3154680" cy="27432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Android phone pe Chrome browser open karein</a:t>
            </a:r>
            <a:endParaRPr lang="en-US" sz="1100" dirty="0"/>
          </a:p>
        </p:txBody>
      </p:sp>
      <p:sp>
        <p:nvSpPr>
          <p:cNvPr id="8" name="Shape 6"/>
          <p:cNvSpPr/>
          <p:nvPr/>
        </p:nvSpPr>
        <p:spPr>
          <a:xfrm>
            <a:off x="640080" y="2039112"/>
            <a:ext cx="365760" cy="365760"/>
          </a:xfrm>
          <a:prstGeom prst="ellipse">
            <a:avLst/>
          </a:prstGeom>
          <a:solidFill>
            <a:srgbClr val="4F46E5"/>
          </a:solidFill>
          <a:ln/>
        </p:spPr>
      </p:sp>
      <p:sp>
        <p:nvSpPr>
          <p:cNvPr id="9" name="Text 7"/>
          <p:cNvSpPr/>
          <p:nvPr/>
        </p:nvSpPr>
        <p:spPr>
          <a:xfrm>
            <a:off x="640080" y="2039112"/>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143000" y="2011680"/>
            <a:ext cx="3154680" cy="22860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Website visit karein</a:t>
            </a:r>
            <a:endParaRPr lang="en-US" sz="1400" dirty="0"/>
          </a:p>
        </p:txBody>
      </p:sp>
      <p:sp>
        <p:nvSpPr>
          <p:cNvPr id="11" name="Text 9"/>
          <p:cNvSpPr/>
          <p:nvPr/>
        </p:nvSpPr>
        <p:spPr>
          <a:xfrm>
            <a:off x="1143000" y="2240280"/>
            <a:ext cx="3154680" cy="27432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www.arnav-enterprises.com type karein</a:t>
            </a:r>
            <a:endParaRPr lang="en-US" sz="1100" dirty="0"/>
          </a:p>
        </p:txBody>
      </p:sp>
      <p:sp>
        <p:nvSpPr>
          <p:cNvPr id="12" name="Shape 10"/>
          <p:cNvSpPr/>
          <p:nvPr/>
        </p:nvSpPr>
        <p:spPr>
          <a:xfrm>
            <a:off x="640080" y="2679192"/>
            <a:ext cx="365760" cy="365760"/>
          </a:xfrm>
          <a:prstGeom prst="ellipse">
            <a:avLst/>
          </a:prstGeom>
          <a:solidFill>
            <a:srgbClr val="4F46E5"/>
          </a:solidFill>
          <a:ln/>
        </p:spPr>
      </p:sp>
      <p:sp>
        <p:nvSpPr>
          <p:cNvPr id="13" name="Text 11"/>
          <p:cNvSpPr/>
          <p:nvPr/>
        </p:nvSpPr>
        <p:spPr>
          <a:xfrm>
            <a:off x="640080" y="2679192"/>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143000" y="2651760"/>
            <a:ext cx="3154680" cy="22860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Home Screen par install karein</a:t>
            </a:r>
            <a:endParaRPr lang="en-US" sz="1400" dirty="0"/>
          </a:p>
        </p:txBody>
      </p:sp>
      <p:sp>
        <p:nvSpPr>
          <p:cNvPr id="15" name="Text 13"/>
          <p:cNvSpPr/>
          <p:nvPr/>
        </p:nvSpPr>
        <p:spPr>
          <a:xfrm>
            <a:off x="1143000" y="2880360"/>
            <a:ext cx="3154680" cy="27432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Chrome menu (3 dots) -&gt; 'Add to Home Screen'</a:t>
            </a:r>
            <a:endParaRPr lang="en-US" sz="1100" dirty="0"/>
          </a:p>
        </p:txBody>
      </p:sp>
      <p:sp>
        <p:nvSpPr>
          <p:cNvPr id="16" name="Shape 14"/>
          <p:cNvSpPr/>
          <p:nvPr/>
        </p:nvSpPr>
        <p:spPr>
          <a:xfrm>
            <a:off x="640080" y="3319272"/>
            <a:ext cx="365760" cy="365760"/>
          </a:xfrm>
          <a:prstGeom prst="ellipse">
            <a:avLst/>
          </a:prstGeom>
          <a:solidFill>
            <a:srgbClr val="4F46E5"/>
          </a:solidFill>
          <a:ln/>
        </p:spPr>
      </p:sp>
      <p:sp>
        <p:nvSpPr>
          <p:cNvPr id="17" name="Text 15"/>
          <p:cNvSpPr/>
          <p:nvPr/>
        </p:nvSpPr>
        <p:spPr>
          <a:xfrm>
            <a:off x="640080" y="3319272"/>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143000" y="3291840"/>
            <a:ext cx="3154680" cy="22860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App kholein</a:t>
            </a:r>
            <a:endParaRPr lang="en-US" sz="1400" dirty="0"/>
          </a:p>
        </p:txBody>
      </p:sp>
      <p:sp>
        <p:nvSpPr>
          <p:cNvPr id="19" name="Text 17"/>
          <p:cNvSpPr/>
          <p:nvPr/>
        </p:nvSpPr>
        <p:spPr>
          <a:xfrm>
            <a:off x="1143000" y="3520440"/>
            <a:ext cx="3154680" cy="27432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Home screen se AEMS app directly kholein</a:t>
            </a:r>
            <a:endParaRPr lang="en-US" sz="1100" dirty="0"/>
          </a:p>
        </p:txBody>
      </p:sp>
      <p:sp>
        <p:nvSpPr>
          <p:cNvPr id="20" name="Shape 18"/>
          <p:cNvSpPr/>
          <p:nvPr/>
        </p:nvSpPr>
        <p:spPr>
          <a:xfrm>
            <a:off x="5029200" y="1371600"/>
            <a:ext cx="3657600" cy="3200400"/>
          </a:xfrm>
          <a:prstGeom prst="roundRect">
            <a:avLst>
              <a:gd name="adj" fmla="val 2857"/>
            </a:avLst>
          </a:prstGeom>
          <a:solidFill>
            <a:srgbClr val="FFFFFF"/>
          </a:solidFill>
          <a:ln w="12700">
            <a:solidFill>
              <a:srgbClr val="333333"/>
            </a:solidFill>
            <a:prstDash val="solid"/>
          </a:ln>
        </p:spPr>
      </p:sp>
      <p:sp>
        <p:nvSpPr>
          <p:cNvPr id="21" name="Text 19"/>
          <p:cNvSpPr/>
          <p:nvPr/>
        </p:nvSpPr>
        <p:spPr>
          <a:xfrm>
            <a:off x="5212080" y="1481328"/>
            <a:ext cx="329184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Tip: Desktop/Laptop ke liye</a:t>
            </a:r>
            <a:endParaRPr lang="en-US" sz="1300" dirty="0"/>
          </a:p>
        </p:txBody>
      </p:sp>
      <p:sp>
        <p:nvSpPr>
          <p:cNvPr id="22" name="Text 20"/>
          <p:cNvSpPr/>
          <p:nvPr/>
        </p:nvSpPr>
        <p:spPr>
          <a:xfrm>
            <a:off x="5212080" y="1737360"/>
            <a:ext cx="3291840" cy="269748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Browser mein seedha website kholein. Koi install ki zaroorat nahi. Admin login ke liye desktop use karein.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74320"/>
            <a:ext cx="7863840" cy="59436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Login kaise karein?</a:t>
            </a:r>
            <a:endParaRPr lang="en-US" sz="2600" dirty="0"/>
          </a:p>
        </p:txBody>
      </p:sp>
      <p:sp>
        <p:nvSpPr>
          <p:cNvPr id="3" name="Text 1"/>
          <p:cNvSpPr/>
          <p:nvPr/>
        </p:nvSpPr>
        <p:spPr>
          <a:xfrm>
            <a:off x="640080" y="822960"/>
            <a:ext cx="7863840" cy="27432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Admin ya Supervisor account se login karein</a:t>
            </a:r>
            <a:endParaRPr lang="en-US" sz="1200" dirty="0"/>
          </a:p>
        </p:txBody>
      </p:sp>
      <p:sp>
        <p:nvSpPr>
          <p:cNvPr id="4" name="Shape 2"/>
          <p:cNvSpPr/>
          <p:nvPr/>
        </p:nvSpPr>
        <p:spPr>
          <a:xfrm>
            <a:off x="640080" y="1399032"/>
            <a:ext cx="365760" cy="365760"/>
          </a:xfrm>
          <a:prstGeom prst="ellipse">
            <a:avLst/>
          </a:prstGeom>
          <a:solidFill>
            <a:srgbClr val="4F46E5"/>
          </a:solidFill>
          <a:ln/>
        </p:spPr>
      </p:sp>
      <p:sp>
        <p:nvSpPr>
          <p:cNvPr id="5" name="Text 3"/>
          <p:cNvSpPr/>
          <p:nvPr/>
        </p:nvSpPr>
        <p:spPr>
          <a:xfrm>
            <a:off x="640080" y="1399032"/>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143000" y="1371600"/>
            <a:ext cx="3154680" cy="22860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App ya website kholein</a:t>
            </a:r>
            <a:endParaRPr lang="en-US" sz="1400" dirty="0"/>
          </a:p>
        </p:txBody>
      </p:sp>
      <p:sp>
        <p:nvSpPr>
          <p:cNvPr id="7" name="Text 5"/>
          <p:cNvSpPr/>
          <p:nvPr/>
        </p:nvSpPr>
        <p:spPr>
          <a:xfrm>
            <a:off x="1143000" y="1600200"/>
            <a:ext cx="3154680" cy="27432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Login page automatically dikhega</a:t>
            </a:r>
            <a:endParaRPr lang="en-US" sz="1100" dirty="0"/>
          </a:p>
        </p:txBody>
      </p:sp>
      <p:sp>
        <p:nvSpPr>
          <p:cNvPr id="8" name="Shape 6"/>
          <p:cNvSpPr/>
          <p:nvPr/>
        </p:nvSpPr>
        <p:spPr>
          <a:xfrm>
            <a:off x="640080" y="2039112"/>
            <a:ext cx="365760" cy="365760"/>
          </a:xfrm>
          <a:prstGeom prst="ellipse">
            <a:avLst/>
          </a:prstGeom>
          <a:solidFill>
            <a:srgbClr val="4F46E5"/>
          </a:solidFill>
          <a:ln/>
        </p:spPr>
      </p:sp>
      <p:sp>
        <p:nvSpPr>
          <p:cNvPr id="9" name="Text 7"/>
          <p:cNvSpPr/>
          <p:nvPr/>
        </p:nvSpPr>
        <p:spPr>
          <a:xfrm>
            <a:off x="640080" y="2039112"/>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143000" y="2011680"/>
            <a:ext cx="3154680" cy="22860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Username aur password dalein</a:t>
            </a:r>
            <a:endParaRPr lang="en-US" sz="1400" dirty="0"/>
          </a:p>
        </p:txBody>
      </p:sp>
      <p:sp>
        <p:nvSpPr>
          <p:cNvPr id="11" name="Text 9"/>
          <p:cNvSpPr/>
          <p:nvPr/>
        </p:nvSpPr>
        <p:spPr>
          <a:xfrm>
            <a:off x="1143000" y="2240280"/>
            <a:ext cx="3154680" cy="27432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Admin ya Supervisor credentials use karein</a:t>
            </a:r>
            <a:endParaRPr lang="en-US" sz="1100" dirty="0"/>
          </a:p>
        </p:txBody>
      </p:sp>
      <p:sp>
        <p:nvSpPr>
          <p:cNvPr id="12" name="Shape 10"/>
          <p:cNvSpPr/>
          <p:nvPr/>
        </p:nvSpPr>
        <p:spPr>
          <a:xfrm>
            <a:off x="640080" y="2679192"/>
            <a:ext cx="365760" cy="365760"/>
          </a:xfrm>
          <a:prstGeom prst="ellipse">
            <a:avLst/>
          </a:prstGeom>
          <a:solidFill>
            <a:srgbClr val="4F46E5"/>
          </a:solidFill>
          <a:ln/>
        </p:spPr>
      </p:sp>
      <p:sp>
        <p:nvSpPr>
          <p:cNvPr id="13" name="Text 11"/>
          <p:cNvSpPr/>
          <p:nvPr/>
        </p:nvSpPr>
        <p:spPr>
          <a:xfrm>
            <a:off x="640080" y="2679192"/>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143000" y="2651760"/>
            <a:ext cx="3154680" cy="22860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Login button par click karein</a:t>
            </a:r>
            <a:endParaRPr lang="en-US" sz="1400" dirty="0"/>
          </a:p>
        </p:txBody>
      </p:sp>
      <p:sp>
        <p:nvSpPr>
          <p:cNvPr id="15" name="Text 13"/>
          <p:cNvSpPr/>
          <p:nvPr/>
        </p:nvSpPr>
        <p:spPr>
          <a:xfrm>
            <a:off x="1143000" y="2880360"/>
            <a:ext cx="3154680" cy="27432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Dashboard open ho jayega</a:t>
            </a:r>
            <a:endParaRPr lang="en-US" sz="1100" dirty="0"/>
          </a:p>
        </p:txBody>
      </p:sp>
      <p:sp>
        <p:nvSpPr>
          <p:cNvPr id="16" name="Shape 14"/>
          <p:cNvSpPr/>
          <p:nvPr/>
        </p:nvSpPr>
        <p:spPr>
          <a:xfrm>
            <a:off x="5029200" y="1371600"/>
            <a:ext cx="3657600" cy="2286000"/>
          </a:xfrm>
          <a:prstGeom prst="roundRect">
            <a:avLst>
              <a:gd name="adj" fmla="val 4000"/>
            </a:avLst>
          </a:prstGeom>
          <a:solidFill>
            <a:srgbClr val="FFFFFF"/>
          </a:solidFill>
          <a:ln w="12700">
            <a:solidFill>
              <a:srgbClr val="333333"/>
            </a:solidFill>
            <a:prstDash val="solid"/>
          </a:ln>
        </p:spPr>
      </p:sp>
      <p:sp>
        <p:nvSpPr>
          <p:cNvPr id="17" name="Text 15"/>
          <p:cNvSpPr/>
          <p:nvPr/>
        </p:nvSpPr>
        <p:spPr>
          <a:xfrm>
            <a:off x="5212080" y="1481328"/>
            <a:ext cx="329184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Login ke baad</a:t>
            </a:r>
            <a:endParaRPr lang="en-US" sz="1300" dirty="0"/>
          </a:p>
        </p:txBody>
      </p:sp>
      <p:sp>
        <p:nvSpPr>
          <p:cNvPr id="18" name="Text 16"/>
          <p:cNvSpPr/>
          <p:nvPr/>
        </p:nvSpPr>
        <p:spPr>
          <a:xfrm>
            <a:off x="5212080" y="1737360"/>
            <a:ext cx="3291840" cy="178308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Aapko Dashboard dikhega jisme sab kuch ka overview milega - employees, attendance, salary, advances.</a:t>
            </a:r>
            <a:endParaRPr lang="en-US" sz="1100" dirty="0"/>
          </a:p>
        </p:txBody>
      </p:sp>
      <p:sp>
        <p:nvSpPr>
          <p:cNvPr id="19" name="Shape 17"/>
          <p:cNvSpPr/>
          <p:nvPr/>
        </p:nvSpPr>
        <p:spPr>
          <a:xfrm>
            <a:off x="5029200" y="2743200"/>
            <a:ext cx="3657600" cy="1828800"/>
          </a:xfrm>
          <a:prstGeom prst="roundRect">
            <a:avLst>
              <a:gd name="adj" fmla="val 5000"/>
            </a:avLst>
          </a:prstGeom>
          <a:solidFill>
            <a:srgbClr val="FFFFFF"/>
          </a:solidFill>
          <a:ln w="12700">
            <a:solidFill>
              <a:srgbClr val="333333"/>
            </a:solidFill>
            <a:prstDash val="solid"/>
          </a:ln>
        </p:spPr>
      </p:sp>
      <p:sp>
        <p:nvSpPr>
          <p:cNvPr id="20" name="Text 18"/>
          <p:cNvSpPr/>
          <p:nvPr/>
        </p:nvSpPr>
        <p:spPr>
          <a:xfrm>
            <a:off x="5212080" y="2852928"/>
            <a:ext cx="329184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Employee Portal</a:t>
            </a:r>
            <a:endParaRPr lang="en-US" sz="1300" dirty="0"/>
          </a:p>
        </p:txBody>
      </p:sp>
      <p:sp>
        <p:nvSpPr>
          <p:cNvPr id="21" name="Text 19"/>
          <p:cNvSpPr/>
          <p:nvPr/>
        </p:nvSpPr>
        <p:spPr>
          <a:xfrm>
            <a:off x="5212080" y="3108960"/>
            <a:ext cx="3291840" cy="132588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Employees apne liye alag portal use kar sakte hain - Login page par 'Employee Portal' option milega.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74320"/>
            <a:ext cx="7863840" cy="59436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Dashboard</a:t>
            </a:r>
            <a:endParaRPr lang="en-US" sz="2600" dirty="0"/>
          </a:p>
        </p:txBody>
      </p:sp>
      <p:sp>
        <p:nvSpPr>
          <p:cNvPr id="3" name="Text 1"/>
          <p:cNvSpPr/>
          <p:nvPr/>
        </p:nvSpPr>
        <p:spPr>
          <a:xfrm>
            <a:off x="640080" y="822960"/>
            <a:ext cx="7863840" cy="27432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Sab kuch ek nazar mein</a:t>
            </a:r>
            <a:endParaRPr lang="en-US" sz="1200" dirty="0"/>
          </a:p>
        </p:txBody>
      </p:sp>
      <p:sp>
        <p:nvSpPr>
          <p:cNvPr id="4" name="Text 2"/>
          <p:cNvSpPr/>
          <p:nvPr/>
        </p:nvSpPr>
        <p:spPr>
          <a:xfrm>
            <a:off x="640080" y="1097280"/>
            <a:ext cx="7863840" cy="36576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Dashboard aapko poore system ka overview dikhata hai. Yahan se aap different sections mein ja sakte hain.</a:t>
            </a:r>
            <a:endParaRPr lang="en-US" sz="1300" dirty="0"/>
          </a:p>
        </p:txBody>
      </p:sp>
      <p:sp>
        <p:nvSpPr>
          <p:cNvPr id="5" name="Shape 3"/>
          <p:cNvSpPr/>
          <p:nvPr/>
        </p:nvSpPr>
        <p:spPr>
          <a:xfrm>
            <a:off x="640080" y="1645920"/>
            <a:ext cx="2377440" cy="1097280"/>
          </a:xfrm>
          <a:prstGeom prst="roundRect">
            <a:avLst>
              <a:gd name="adj" fmla="val 8333"/>
            </a:avLst>
          </a:prstGeom>
          <a:solidFill>
            <a:srgbClr val="FFFFFF"/>
          </a:solidFill>
          <a:ln w="12700">
            <a:solidFill>
              <a:srgbClr val="333333"/>
            </a:solidFill>
            <a:prstDash val="solid"/>
          </a:ln>
        </p:spPr>
      </p:sp>
      <p:sp>
        <p:nvSpPr>
          <p:cNvPr id="6" name="Text 4"/>
          <p:cNvSpPr/>
          <p:nvPr/>
        </p:nvSpPr>
        <p:spPr>
          <a:xfrm>
            <a:off x="822960" y="1755648"/>
            <a:ext cx="201168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Total Employees</a:t>
            </a:r>
            <a:endParaRPr lang="en-US" sz="1300" dirty="0"/>
          </a:p>
        </p:txBody>
      </p:sp>
      <p:sp>
        <p:nvSpPr>
          <p:cNvPr id="7" name="Text 5"/>
          <p:cNvSpPr/>
          <p:nvPr/>
        </p:nvSpPr>
        <p:spPr>
          <a:xfrm>
            <a:off x="822960" y="2011680"/>
            <a:ext cx="2011680" cy="59436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Saari employees ki list aur count dekhein</a:t>
            </a:r>
            <a:endParaRPr lang="en-US" sz="1100" dirty="0"/>
          </a:p>
        </p:txBody>
      </p:sp>
      <p:sp>
        <p:nvSpPr>
          <p:cNvPr id="8" name="Shape 6"/>
          <p:cNvSpPr/>
          <p:nvPr/>
        </p:nvSpPr>
        <p:spPr>
          <a:xfrm>
            <a:off x="3383280" y="1645920"/>
            <a:ext cx="2377440" cy="1097280"/>
          </a:xfrm>
          <a:prstGeom prst="roundRect">
            <a:avLst>
              <a:gd name="adj" fmla="val 8333"/>
            </a:avLst>
          </a:prstGeom>
          <a:solidFill>
            <a:srgbClr val="FFFFFF"/>
          </a:solidFill>
          <a:ln w="12700">
            <a:solidFill>
              <a:srgbClr val="333333"/>
            </a:solidFill>
            <a:prstDash val="solid"/>
          </a:ln>
        </p:spPr>
      </p:sp>
      <p:sp>
        <p:nvSpPr>
          <p:cNvPr id="9" name="Text 7"/>
          <p:cNvSpPr/>
          <p:nvPr/>
        </p:nvSpPr>
        <p:spPr>
          <a:xfrm>
            <a:off x="3566160" y="1755648"/>
            <a:ext cx="201168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Today's Attendance</a:t>
            </a:r>
            <a:endParaRPr lang="en-US" sz="1300" dirty="0"/>
          </a:p>
        </p:txBody>
      </p:sp>
      <p:sp>
        <p:nvSpPr>
          <p:cNvPr id="10" name="Text 8"/>
          <p:cNvSpPr/>
          <p:nvPr/>
        </p:nvSpPr>
        <p:spPr>
          <a:xfrm>
            <a:off x="3566160" y="2011680"/>
            <a:ext cx="2011680" cy="59436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Aaj ka attendance summary dekhein</a:t>
            </a:r>
            <a:endParaRPr lang="en-US" sz="1100" dirty="0"/>
          </a:p>
        </p:txBody>
      </p:sp>
      <p:sp>
        <p:nvSpPr>
          <p:cNvPr id="11" name="Shape 9"/>
          <p:cNvSpPr/>
          <p:nvPr/>
        </p:nvSpPr>
        <p:spPr>
          <a:xfrm>
            <a:off x="6126480" y="1645920"/>
            <a:ext cx="2377440" cy="1097280"/>
          </a:xfrm>
          <a:prstGeom prst="roundRect">
            <a:avLst>
              <a:gd name="adj" fmla="val 8333"/>
            </a:avLst>
          </a:prstGeom>
          <a:solidFill>
            <a:srgbClr val="FFFFFF"/>
          </a:solidFill>
          <a:ln w="12700">
            <a:solidFill>
              <a:srgbClr val="333333"/>
            </a:solidFill>
            <a:prstDash val="solid"/>
          </a:ln>
        </p:spPr>
      </p:sp>
      <p:sp>
        <p:nvSpPr>
          <p:cNvPr id="12" name="Text 10"/>
          <p:cNvSpPr/>
          <p:nvPr/>
        </p:nvSpPr>
        <p:spPr>
          <a:xfrm>
            <a:off x="6309360" y="1755648"/>
            <a:ext cx="201168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Recent Activity</a:t>
            </a:r>
            <a:endParaRPr lang="en-US" sz="1300" dirty="0"/>
          </a:p>
        </p:txBody>
      </p:sp>
      <p:sp>
        <p:nvSpPr>
          <p:cNvPr id="13" name="Text 11"/>
          <p:cNvSpPr/>
          <p:nvPr/>
        </p:nvSpPr>
        <p:spPr>
          <a:xfrm>
            <a:off x="6309360" y="2011680"/>
            <a:ext cx="2011680" cy="59436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Recent actions ki log dekhein</a:t>
            </a:r>
            <a:endParaRPr lang="en-US" sz="1100" dirty="0"/>
          </a:p>
        </p:txBody>
      </p:sp>
      <p:sp>
        <p:nvSpPr>
          <p:cNvPr id="14" name="Shape 12"/>
          <p:cNvSpPr/>
          <p:nvPr/>
        </p:nvSpPr>
        <p:spPr>
          <a:xfrm>
            <a:off x="640080" y="3017520"/>
            <a:ext cx="2377440" cy="1097280"/>
          </a:xfrm>
          <a:prstGeom prst="roundRect">
            <a:avLst>
              <a:gd name="adj" fmla="val 8333"/>
            </a:avLst>
          </a:prstGeom>
          <a:solidFill>
            <a:srgbClr val="FFFFFF"/>
          </a:solidFill>
          <a:ln w="12700">
            <a:solidFill>
              <a:srgbClr val="333333"/>
            </a:solidFill>
            <a:prstDash val="solid"/>
          </a:ln>
        </p:spPr>
      </p:sp>
      <p:sp>
        <p:nvSpPr>
          <p:cNvPr id="15" name="Text 13"/>
          <p:cNvSpPr/>
          <p:nvPr/>
        </p:nvSpPr>
        <p:spPr>
          <a:xfrm>
            <a:off x="822960" y="3127248"/>
            <a:ext cx="201168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Pending Salary</a:t>
            </a:r>
            <a:endParaRPr lang="en-US" sz="1300" dirty="0"/>
          </a:p>
        </p:txBody>
      </p:sp>
      <p:sp>
        <p:nvSpPr>
          <p:cNvPr id="16" name="Text 14"/>
          <p:cNvSpPr/>
          <p:nvPr/>
        </p:nvSpPr>
        <p:spPr>
          <a:xfrm>
            <a:off x="822960" y="3383280"/>
            <a:ext cx="2011680" cy="59436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Unpaid salaries track karein</a:t>
            </a:r>
            <a:endParaRPr lang="en-US" sz="1100" dirty="0"/>
          </a:p>
        </p:txBody>
      </p:sp>
      <p:sp>
        <p:nvSpPr>
          <p:cNvPr id="17" name="Shape 15"/>
          <p:cNvSpPr/>
          <p:nvPr/>
        </p:nvSpPr>
        <p:spPr>
          <a:xfrm>
            <a:off x="3383280" y="3017520"/>
            <a:ext cx="2377440" cy="1097280"/>
          </a:xfrm>
          <a:prstGeom prst="roundRect">
            <a:avLst>
              <a:gd name="adj" fmla="val 8333"/>
            </a:avLst>
          </a:prstGeom>
          <a:solidFill>
            <a:srgbClr val="FFFFFF"/>
          </a:solidFill>
          <a:ln w="12700">
            <a:solidFill>
              <a:srgbClr val="333333"/>
            </a:solidFill>
            <a:prstDash val="solid"/>
          </a:ln>
        </p:spPr>
      </p:sp>
      <p:sp>
        <p:nvSpPr>
          <p:cNvPr id="18" name="Text 16"/>
          <p:cNvSpPr/>
          <p:nvPr/>
        </p:nvSpPr>
        <p:spPr>
          <a:xfrm>
            <a:off x="3566160" y="3127248"/>
            <a:ext cx="201168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Pending Advances</a:t>
            </a:r>
            <a:endParaRPr lang="en-US" sz="1300" dirty="0"/>
          </a:p>
        </p:txBody>
      </p:sp>
      <p:sp>
        <p:nvSpPr>
          <p:cNvPr id="19" name="Text 17"/>
          <p:cNvSpPr/>
          <p:nvPr/>
        </p:nvSpPr>
        <p:spPr>
          <a:xfrm>
            <a:off x="3566160" y="3383280"/>
            <a:ext cx="2011680" cy="59436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Lamba advance requests dekhein</a:t>
            </a:r>
            <a:endParaRPr lang="en-US" sz="1100" dirty="0"/>
          </a:p>
        </p:txBody>
      </p:sp>
      <p:sp>
        <p:nvSpPr>
          <p:cNvPr id="20" name="Shape 18"/>
          <p:cNvSpPr/>
          <p:nvPr/>
        </p:nvSpPr>
        <p:spPr>
          <a:xfrm>
            <a:off x="6126480" y="3017520"/>
            <a:ext cx="2377440" cy="1097280"/>
          </a:xfrm>
          <a:prstGeom prst="roundRect">
            <a:avLst>
              <a:gd name="adj" fmla="val 8333"/>
            </a:avLst>
          </a:prstGeom>
          <a:solidFill>
            <a:srgbClr val="FFFFFF"/>
          </a:solidFill>
          <a:ln w="12700">
            <a:solidFill>
              <a:srgbClr val="333333"/>
            </a:solidFill>
            <a:prstDash val="solid"/>
          </a:ln>
        </p:spPr>
      </p:sp>
      <p:sp>
        <p:nvSpPr>
          <p:cNvPr id="21" name="Text 19"/>
          <p:cNvSpPr/>
          <p:nvPr/>
        </p:nvSpPr>
        <p:spPr>
          <a:xfrm>
            <a:off x="6309360" y="3127248"/>
            <a:ext cx="201168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Clients</a:t>
            </a:r>
            <a:endParaRPr lang="en-US" sz="1300" dirty="0"/>
          </a:p>
        </p:txBody>
      </p:sp>
      <p:sp>
        <p:nvSpPr>
          <p:cNvPr id="22" name="Text 20"/>
          <p:cNvSpPr/>
          <p:nvPr/>
        </p:nvSpPr>
        <p:spPr>
          <a:xfrm>
            <a:off x="6309360" y="3383280"/>
            <a:ext cx="2011680" cy="59436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Active clients ki information dekhein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74320"/>
            <a:ext cx="7863840" cy="59436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Employee Management</a:t>
            </a:r>
            <a:endParaRPr lang="en-US" sz="2600" dirty="0"/>
          </a:p>
        </p:txBody>
      </p:sp>
      <p:sp>
        <p:nvSpPr>
          <p:cNvPr id="3" name="Text 1"/>
          <p:cNvSpPr/>
          <p:nvPr/>
        </p:nvSpPr>
        <p:spPr>
          <a:xfrm>
            <a:off x="640080" y="822960"/>
            <a:ext cx="7863840" cy="27432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Employees ko manage karein</a:t>
            </a:r>
            <a:endParaRPr lang="en-US" sz="1200" dirty="0"/>
          </a:p>
        </p:txBody>
      </p:sp>
      <p:sp>
        <p:nvSpPr>
          <p:cNvPr id="4" name="Shape 2"/>
          <p:cNvSpPr/>
          <p:nvPr/>
        </p:nvSpPr>
        <p:spPr>
          <a:xfrm>
            <a:off x="640080" y="1481328"/>
            <a:ext cx="82296" cy="82296"/>
          </a:xfrm>
          <a:prstGeom prst="ellipse">
            <a:avLst/>
          </a:prstGeom>
          <a:solidFill>
            <a:srgbClr val="4F46E5"/>
          </a:solidFill>
          <a:ln/>
        </p:spPr>
      </p:sp>
      <p:sp>
        <p:nvSpPr>
          <p:cNvPr id="5" name="Text 3"/>
          <p:cNvSpPr/>
          <p:nvPr/>
        </p:nvSpPr>
        <p:spPr>
          <a:xfrm>
            <a:off x="822960" y="13716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Naye employees add karein</a:t>
            </a:r>
            <a:pPr indent="0" marL="0">
              <a:buNone/>
            </a:pPr>
            <a:r>
              <a:rPr lang="en-US" sz="1300" dirty="0">
                <a:solidFill>
                  <a:srgbClr val="64748B"/>
                </a:solidFill>
                <a:latin typeface="Calibri" pitchFamily="34" charset="0"/>
                <a:ea typeface="Calibri" pitchFamily="34" charset="-122"/>
                <a:cs typeface="Calibri" pitchFamily="34" charset="-120"/>
              </a:rPr>
              <a:t> - 'Add Employee' par click karke details bharein</a:t>
            </a:r>
            <a:endParaRPr lang="en-US" sz="1300" dirty="0"/>
          </a:p>
        </p:txBody>
      </p:sp>
      <p:sp>
        <p:nvSpPr>
          <p:cNvPr id="6" name="Shape 4"/>
          <p:cNvSpPr/>
          <p:nvPr/>
        </p:nvSpPr>
        <p:spPr>
          <a:xfrm>
            <a:off x="640080" y="1938528"/>
            <a:ext cx="82296" cy="82296"/>
          </a:xfrm>
          <a:prstGeom prst="ellipse">
            <a:avLst/>
          </a:prstGeom>
          <a:solidFill>
            <a:srgbClr val="4F46E5"/>
          </a:solidFill>
          <a:ln/>
        </p:spPr>
      </p:sp>
      <p:sp>
        <p:nvSpPr>
          <p:cNvPr id="7" name="Text 5"/>
          <p:cNvSpPr/>
          <p:nvPr/>
        </p:nvSpPr>
        <p:spPr>
          <a:xfrm>
            <a:off x="822960" y="18288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Existing employees edit karein</a:t>
            </a:r>
            <a:pPr indent="0" marL="0">
              <a:buNone/>
            </a:pPr>
            <a:r>
              <a:rPr lang="en-US" sz="1300" dirty="0">
                <a:solidFill>
                  <a:srgbClr val="64748B"/>
                </a:solidFill>
                <a:latin typeface="Calibri" pitchFamily="34" charset="0"/>
                <a:ea typeface="Calibri" pitchFamily="34" charset="-122"/>
                <a:cs typeface="Calibri" pitchFamily="34" charset="-120"/>
              </a:rPr>
              <a:t> - Edit button se koi bhi information update karein</a:t>
            </a:r>
            <a:endParaRPr lang="en-US" sz="1300" dirty="0"/>
          </a:p>
        </p:txBody>
      </p:sp>
      <p:sp>
        <p:nvSpPr>
          <p:cNvPr id="8" name="Shape 6"/>
          <p:cNvSpPr/>
          <p:nvPr/>
        </p:nvSpPr>
        <p:spPr>
          <a:xfrm>
            <a:off x="640080" y="2395728"/>
            <a:ext cx="82296" cy="82296"/>
          </a:xfrm>
          <a:prstGeom prst="ellipse">
            <a:avLst/>
          </a:prstGeom>
          <a:solidFill>
            <a:srgbClr val="4F46E5"/>
          </a:solidFill>
          <a:ln/>
        </p:spPr>
      </p:sp>
      <p:sp>
        <p:nvSpPr>
          <p:cNvPr id="9" name="Text 7"/>
          <p:cNvSpPr/>
          <p:nvPr/>
        </p:nvSpPr>
        <p:spPr>
          <a:xfrm>
            <a:off x="822960" y="22860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Employee data export karein</a:t>
            </a:r>
            <a:pPr indent="0" marL="0">
              <a:buNone/>
            </a:pPr>
            <a:r>
              <a:rPr lang="en-US" sz="1300" dirty="0">
                <a:solidFill>
                  <a:srgbClr val="64748B"/>
                </a:solidFill>
                <a:latin typeface="Calibri" pitchFamily="34" charset="0"/>
                <a:ea typeface="Calibri" pitchFamily="34" charset="-122"/>
                <a:cs typeface="Calibri" pitchFamily="34" charset="-120"/>
              </a:rPr>
              <a:t> - Excel/CSV mein saari details download karein</a:t>
            </a:r>
            <a:endParaRPr lang="en-US" sz="1300" dirty="0"/>
          </a:p>
        </p:txBody>
      </p:sp>
      <p:sp>
        <p:nvSpPr>
          <p:cNvPr id="10" name="Shape 8"/>
          <p:cNvSpPr/>
          <p:nvPr/>
        </p:nvSpPr>
        <p:spPr>
          <a:xfrm>
            <a:off x="640080" y="2852928"/>
            <a:ext cx="82296" cy="82296"/>
          </a:xfrm>
          <a:prstGeom prst="ellipse">
            <a:avLst/>
          </a:prstGeom>
          <a:solidFill>
            <a:srgbClr val="4F46E5"/>
          </a:solidFill>
          <a:ln/>
        </p:spPr>
      </p:sp>
      <p:sp>
        <p:nvSpPr>
          <p:cNvPr id="11" name="Text 9"/>
          <p:cNvSpPr/>
          <p:nvPr/>
        </p:nvSpPr>
        <p:spPr>
          <a:xfrm>
            <a:off x="822960" y="27432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Bulk operations karein</a:t>
            </a:r>
            <a:pPr indent="0" marL="0">
              <a:buNone/>
            </a:pPr>
            <a:r>
              <a:rPr lang="en-US" sz="1300" dirty="0">
                <a:solidFill>
                  <a:srgbClr val="64748B"/>
                </a:solidFill>
                <a:latin typeface="Calibri" pitchFamily="34" charset="0"/>
                <a:ea typeface="Calibri" pitchFamily="34" charset="-122"/>
                <a:cs typeface="Calibri" pitchFamily="34" charset="-120"/>
              </a:rPr>
              <a:t> - Ek saath kai employees ko update karein</a:t>
            </a:r>
            <a:endParaRPr lang="en-US" sz="1300" dirty="0"/>
          </a:p>
        </p:txBody>
      </p:sp>
      <p:sp>
        <p:nvSpPr>
          <p:cNvPr id="12" name="Shape 10"/>
          <p:cNvSpPr/>
          <p:nvPr/>
        </p:nvSpPr>
        <p:spPr>
          <a:xfrm>
            <a:off x="640080" y="3310128"/>
            <a:ext cx="82296" cy="82296"/>
          </a:xfrm>
          <a:prstGeom prst="ellipse">
            <a:avLst/>
          </a:prstGeom>
          <a:solidFill>
            <a:srgbClr val="4F46E5"/>
          </a:solidFill>
          <a:ln/>
        </p:spPr>
      </p:sp>
      <p:sp>
        <p:nvSpPr>
          <p:cNvPr id="13" name="Text 11"/>
          <p:cNvSpPr/>
          <p:nvPr/>
        </p:nvSpPr>
        <p:spPr>
          <a:xfrm>
            <a:off x="822960" y="32004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Locations manage karein</a:t>
            </a:r>
            <a:pPr indent="0" marL="0">
              <a:buNone/>
            </a:pPr>
            <a:r>
              <a:rPr lang="en-US" sz="1300" dirty="0">
                <a:solidFill>
                  <a:srgbClr val="64748B"/>
                </a:solidFill>
                <a:latin typeface="Calibri" pitchFamily="34" charset="0"/>
                <a:ea typeface="Calibri" pitchFamily="34" charset="-122"/>
                <a:cs typeface="Calibri" pitchFamily="34" charset="-120"/>
              </a:rPr>
              <a:t> - Har employee ki in/out locations track karein</a:t>
            </a:r>
            <a:endParaRPr lang="en-US" sz="1300" dirty="0"/>
          </a:p>
        </p:txBody>
      </p:sp>
      <p:sp>
        <p:nvSpPr>
          <p:cNvPr id="14" name="Shape 12"/>
          <p:cNvSpPr/>
          <p:nvPr/>
        </p:nvSpPr>
        <p:spPr>
          <a:xfrm>
            <a:off x="640080" y="3767328"/>
            <a:ext cx="82296" cy="82296"/>
          </a:xfrm>
          <a:prstGeom prst="ellipse">
            <a:avLst/>
          </a:prstGeom>
          <a:solidFill>
            <a:srgbClr val="4F46E5"/>
          </a:solidFill>
          <a:ln/>
        </p:spPr>
      </p:sp>
      <p:sp>
        <p:nvSpPr>
          <p:cNvPr id="15" name="Text 13"/>
          <p:cNvSpPr/>
          <p:nvPr/>
        </p:nvSpPr>
        <p:spPr>
          <a:xfrm>
            <a:off x="822960" y="36576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Password reset karein</a:t>
            </a:r>
            <a:pPr indent="0" marL="0">
              <a:buNone/>
            </a:pPr>
            <a:r>
              <a:rPr lang="en-US" sz="1300" dirty="0">
                <a:solidFill>
                  <a:srgbClr val="64748B"/>
                </a:solidFill>
                <a:latin typeface="Calibri" pitchFamily="34" charset="0"/>
                <a:ea typeface="Calibri" pitchFamily="34" charset="-122"/>
                <a:cs typeface="Calibri" pitchFamily="34" charset="-120"/>
              </a:rPr>
              <a:t> - Employees ka password admin reset kar sakta hai</a:t>
            </a:r>
            <a:endParaRPr lang="en-US" sz="1300" dirty="0"/>
          </a:p>
        </p:txBody>
      </p:sp>
      <p:sp>
        <p:nvSpPr>
          <p:cNvPr id="16" name="Text 14"/>
          <p:cNvSpPr/>
          <p:nvPr/>
        </p:nvSpPr>
        <p:spPr>
          <a:xfrm>
            <a:off x="640080" y="4206240"/>
            <a:ext cx="7863840" cy="274320"/>
          </a:xfrm>
          <a:prstGeom prst="rect">
            <a:avLst/>
          </a:prstGeom>
          <a:noFill/>
          <a:ln/>
        </p:spPr>
        <p:txBody>
          <a:bodyPr wrap="square" rtlCol="0" anchor="ctr"/>
          <a:lstStyle/>
          <a:p>
            <a:pPr indent="0" marL="0">
              <a:buNone/>
            </a:pPr>
            <a:r>
              <a:rPr lang="en-US" sz="1100" dirty="0">
                <a:solidFill>
                  <a:srgbClr val="F59E0B"/>
                </a:solidFill>
                <a:latin typeface="Calibri" pitchFamily="34" charset="0"/>
                <a:ea typeface="Calibri" pitchFamily="34" charset="-122"/>
                <a:cs typeface="Calibri" pitchFamily="34" charset="-120"/>
              </a:rPr>
              <a:t>Note: Admin login se hi employees manage kar sakte hain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74320"/>
            <a:ext cx="7863840" cy="59436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Attendance System</a:t>
            </a:r>
            <a:endParaRPr lang="en-US" sz="2600" dirty="0"/>
          </a:p>
        </p:txBody>
      </p:sp>
      <p:sp>
        <p:nvSpPr>
          <p:cNvPr id="3" name="Text 1"/>
          <p:cNvSpPr/>
          <p:nvPr/>
        </p:nvSpPr>
        <p:spPr>
          <a:xfrm>
            <a:off x="640080" y="822960"/>
            <a:ext cx="7863840" cy="27432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Check-in/Check-out with location tracking</a:t>
            </a:r>
            <a:endParaRPr lang="en-US" sz="1200" dirty="0"/>
          </a:p>
        </p:txBody>
      </p:sp>
      <p:sp>
        <p:nvSpPr>
          <p:cNvPr id="4" name="Shape 2"/>
          <p:cNvSpPr/>
          <p:nvPr/>
        </p:nvSpPr>
        <p:spPr>
          <a:xfrm>
            <a:off x="640080" y="1371600"/>
            <a:ext cx="3657600" cy="1645920"/>
          </a:xfrm>
          <a:prstGeom prst="roundRect">
            <a:avLst>
              <a:gd name="adj" fmla="val 5556"/>
            </a:avLst>
          </a:prstGeom>
          <a:solidFill>
            <a:srgbClr val="FFFFFF"/>
          </a:solidFill>
          <a:ln w="12700">
            <a:solidFill>
              <a:srgbClr val="333333"/>
            </a:solidFill>
            <a:prstDash val="solid"/>
          </a:ln>
        </p:spPr>
      </p:sp>
      <p:sp>
        <p:nvSpPr>
          <p:cNvPr id="5" name="Text 3"/>
          <p:cNvSpPr/>
          <p:nvPr/>
        </p:nvSpPr>
        <p:spPr>
          <a:xfrm>
            <a:off x="822960" y="1481328"/>
            <a:ext cx="329184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Check-In Process</a:t>
            </a:r>
            <a:endParaRPr lang="en-US" sz="1300" dirty="0"/>
          </a:p>
        </p:txBody>
      </p:sp>
      <p:sp>
        <p:nvSpPr>
          <p:cNvPr id="6" name="Text 4"/>
          <p:cNvSpPr/>
          <p:nvPr/>
        </p:nvSpPr>
        <p:spPr>
          <a:xfrm>
            <a:off x="822960" y="1737360"/>
            <a:ext cx="3291840" cy="114300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Employee app open kare -&gt; Check-In button press kare -&gt; Location automatically capture ho jayega</a:t>
            </a:r>
            <a:endParaRPr lang="en-US" sz="1100" dirty="0"/>
          </a:p>
        </p:txBody>
      </p:sp>
      <p:sp>
        <p:nvSpPr>
          <p:cNvPr id="7" name="Shape 5"/>
          <p:cNvSpPr/>
          <p:nvPr/>
        </p:nvSpPr>
        <p:spPr>
          <a:xfrm>
            <a:off x="4846320" y="1371600"/>
            <a:ext cx="3657600" cy="1645920"/>
          </a:xfrm>
          <a:prstGeom prst="roundRect">
            <a:avLst>
              <a:gd name="adj" fmla="val 5556"/>
            </a:avLst>
          </a:prstGeom>
          <a:solidFill>
            <a:srgbClr val="FFFFFF"/>
          </a:solidFill>
          <a:ln w="12700">
            <a:solidFill>
              <a:srgbClr val="333333"/>
            </a:solidFill>
            <a:prstDash val="solid"/>
          </a:ln>
        </p:spPr>
      </p:sp>
      <p:sp>
        <p:nvSpPr>
          <p:cNvPr id="8" name="Text 6"/>
          <p:cNvSpPr/>
          <p:nvPr/>
        </p:nvSpPr>
        <p:spPr>
          <a:xfrm>
            <a:off x="5029200" y="1481328"/>
            <a:ext cx="329184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Check-Out Process</a:t>
            </a:r>
            <a:endParaRPr lang="en-US" sz="1300" dirty="0"/>
          </a:p>
        </p:txBody>
      </p:sp>
      <p:sp>
        <p:nvSpPr>
          <p:cNvPr id="9" name="Text 7"/>
          <p:cNvSpPr/>
          <p:nvPr/>
        </p:nvSpPr>
        <p:spPr>
          <a:xfrm>
            <a:off x="5029200" y="1737360"/>
            <a:ext cx="3291840" cy="114300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Jab kaam khatam ho -&gt; Check-Out button press kare -&gt; Out time record ho jayega</a:t>
            </a:r>
            <a:endParaRPr lang="en-US" sz="1100" dirty="0"/>
          </a:p>
        </p:txBody>
      </p:sp>
      <p:sp>
        <p:nvSpPr>
          <p:cNvPr id="10" name="Shape 8"/>
          <p:cNvSpPr/>
          <p:nvPr/>
        </p:nvSpPr>
        <p:spPr>
          <a:xfrm>
            <a:off x="640080" y="3291840"/>
            <a:ext cx="3657600" cy="1371600"/>
          </a:xfrm>
          <a:prstGeom prst="roundRect">
            <a:avLst>
              <a:gd name="adj" fmla="val 6667"/>
            </a:avLst>
          </a:prstGeom>
          <a:solidFill>
            <a:srgbClr val="FFFFFF"/>
          </a:solidFill>
          <a:ln w="12700">
            <a:solidFill>
              <a:srgbClr val="333333"/>
            </a:solidFill>
            <a:prstDash val="solid"/>
          </a:ln>
        </p:spPr>
      </p:sp>
      <p:sp>
        <p:nvSpPr>
          <p:cNvPr id="11" name="Text 9"/>
          <p:cNvSpPr/>
          <p:nvPr/>
        </p:nvSpPr>
        <p:spPr>
          <a:xfrm>
            <a:off x="822960" y="3401568"/>
            <a:ext cx="329184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Monthly Grid View</a:t>
            </a:r>
            <a:endParaRPr lang="en-US" sz="1300" dirty="0"/>
          </a:p>
        </p:txBody>
      </p:sp>
      <p:sp>
        <p:nvSpPr>
          <p:cNvPr id="12" name="Text 10"/>
          <p:cNvSpPr/>
          <p:nvPr/>
        </p:nvSpPr>
        <p:spPr>
          <a:xfrm>
            <a:off x="822960" y="3657600"/>
            <a:ext cx="3291840" cy="86868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Pooray mahine ka attendance calendar view mein dekhein - kaun aaya, kaun nahi</a:t>
            </a:r>
            <a:endParaRPr lang="en-US" sz="1100" dirty="0"/>
          </a:p>
        </p:txBody>
      </p:sp>
      <p:sp>
        <p:nvSpPr>
          <p:cNvPr id="13" name="Shape 11"/>
          <p:cNvSpPr/>
          <p:nvPr/>
        </p:nvSpPr>
        <p:spPr>
          <a:xfrm>
            <a:off x="4846320" y="3291840"/>
            <a:ext cx="3657600" cy="1371600"/>
          </a:xfrm>
          <a:prstGeom prst="roundRect">
            <a:avLst>
              <a:gd name="adj" fmla="val 6667"/>
            </a:avLst>
          </a:prstGeom>
          <a:solidFill>
            <a:srgbClr val="FFFFFF"/>
          </a:solidFill>
          <a:ln w="12700">
            <a:solidFill>
              <a:srgbClr val="333333"/>
            </a:solidFill>
            <a:prstDash val="solid"/>
          </a:ln>
        </p:spPr>
      </p:sp>
      <p:sp>
        <p:nvSpPr>
          <p:cNvPr id="14" name="Text 12"/>
          <p:cNvSpPr/>
          <p:nvPr/>
        </p:nvSpPr>
        <p:spPr>
          <a:xfrm>
            <a:off x="5029200" y="3401568"/>
            <a:ext cx="329184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Location Tracking</a:t>
            </a:r>
            <a:endParaRPr lang="en-US" sz="1300" dirty="0"/>
          </a:p>
        </p:txBody>
      </p:sp>
      <p:sp>
        <p:nvSpPr>
          <p:cNvPr id="15" name="Text 13"/>
          <p:cNvSpPr/>
          <p:nvPr/>
        </p:nvSpPr>
        <p:spPr>
          <a:xfrm>
            <a:off x="5029200" y="3657600"/>
            <a:ext cx="3291840" cy="86868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GPS se har employee ki location track hoti hai - multiple locations support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74320"/>
            <a:ext cx="7863840" cy="59436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Salary Management</a:t>
            </a:r>
            <a:endParaRPr lang="en-US" sz="2600" dirty="0"/>
          </a:p>
        </p:txBody>
      </p:sp>
      <p:sp>
        <p:nvSpPr>
          <p:cNvPr id="3" name="Text 1"/>
          <p:cNvSpPr/>
          <p:nvPr/>
        </p:nvSpPr>
        <p:spPr>
          <a:xfrm>
            <a:off x="640080" y="822960"/>
            <a:ext cx="7863840" cy="27432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Monthly salary records manage karein</a:t>
            </a:r>
            <a:endParaRPr lang="en-US" sz="1200" dirty="0"/>
          </a:p>
        </p:txBody>
      </p:sp>
      <p:sp>
        <p:nvSpPr>
          <p:cNvPr id="4" name="Shape 2"/>
          <p:cNvSpPr/>
          <p:nvPr/>
        </p:nvSpPr>
        <p:spPr>
          <a:xfrm>
            <a:off x="640080" y="1481328"/>
            <a:ext cx="82296" cy="82296"/>
          </a:xfrm>
          <a:prstGeom prst="ellipse">
            <a:avLst/>
          </a:prstGeom>
          <a:solidFill>
            <a:srgbClr val="4F46E5"/>
          </a:solidFill>
          <a:ln/>
        </p:spPr>
      </p:sp>
      <p:sp>
        <p:nvSpPr>
          <p:cNvPr id="5" name="Text 3"/>
          <p:cNvSpPr/>
          <p:nvPr/>
        </p:nvSpPr>
        <p:spPr>
          <a:xfrm>
            <a:off x="822960" y="13716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Monthly salary generate karein</a:t>
            </a:r>
            <a:pPr indent="0" marL="0">
              <a:buNone/>
            </a:pPr>
            <a:r>
              <a:rPr lang="en-US" sz="1300" dirty="0">
                <a:solidFill>
                  <a:srgbClr val="64748B"/>
                </a:solidFill>
                <a:latin typeface="Calibri" pitchFamily="34" charset="0"/>
                <a:ea typeface="Calibri" pitchFamily="34" charset="-122"/>
                <a:cs typeface="Calibri" pitchFamily="34" charset="-120"/>
              </a:rPr>
              <a:t> - Har employee ki monthly salary create karein</a:t>
            </a:r>
            <a:endParaRPr lang="en-US" sz="1300" dirty="0"/>
          </a:p>
        </p:txBody>
      </p:sp>
      <p:sp>
        <p:nvSpPr>
          <p:cNvPr id="6" name="Shape 4"/>
          <p:cNvSpPr/>
          <p:nvPr/>
        </p:nvSpPr>
        <p:spPr>
          <a:xfrm>
            <a:off x="640080" y="1938528"/>
            <a:ext cx="82296" cy="82296"/>
          </a:xfrm>
          <a:prstGeom prst="ellipse">
            <a:avLst/>
          </a:prstGeom>
          <a:solidFill>
            <a:srgbClr val="4F46E5"/>
          </a:solidFill>
          <a:ln/>
        </p:spPr>
      </p:sp>
      <p:sp>
        <p:nvSpPr>
          <p:cNvPr id="7" name="Text 5"/>
          <p:cNvSpPr/>
          <p:nvPr/>
        </p:nvSpPr>
        <p:spPr>
          <a:xfrm>
            <a:off x="822960" y="18288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Bulk salary processing</a:t>
            </a:r>
            <a:pPr indent="0" marL="0">
              <a:buNone/>
            </a:pPr>
            <a:r>
              <a:rPr lang="en-US" sz="1300" dirty="0">
                <a:solidFill>
                  <a:srgbClr val="64748B"/>
                </a:solidFill>
                <a:latin typeface="Calibri" pitchFamily="34" charset="0"/>
                <a:ea typeface="Calibri" pitchFamily="34" charset="-122"/>
                <a:cs typeface="Calibri" pitchFamily="34" charset="-120"/>
              </a:rPr>
              <a:t> - Ek saath saari employees ki salary process karein</a:t>
            </a:r>
            <a:endParaRPr lang="en-US" sz="1300" dirty="0"/>
          </a:p>
        </p:txBody>
      </p:sp>
      <p:sp>
        <p:nvSpPr>
          <p:cNvPr id="8" name="Shape 6"/>
          <p:cNvSpPr/>
          <p:nvPr/>
        </p:nvSpPr>
        <p:spPr>
          <a:xfrm>
            <a:off x="640080" y="2395728"/>
            <a:ext cx="82296" cy="82296"/>
          </a:xfrm>
          <a:prstGeom prst="ellipse">
            <a:avLst/>
          </a:prstGeom>
          <a:solidFill>
            <a:srgbClr val="4F46E5"/>
          </a:solidFill>
          <a:ln/>
        </p:spPr>
      </p:sp>
      <p:sp>
        <p:nvSpPr>
          <p:cNvPr id="9" name="Text 7"/>
          <p:cNvSpPr/>
          <p:nvPr/>
        </p:nvSpPr>
        <p:spPr>
          <a:xfrm>
            <a:off x="822960" y="22860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Payment date track karein</a:t>
            </a:r>
            <a:pPr indent="0" marL="0">
              <a:buNone/>
            </a:pPr>
            <a:r>
              <a:rPr lang="en-US" sz="1300" dirty="0">
                <a:solidFill>
                  <a:srgbClr val="64748B"/>
                </a:solidFill>
                <a:latin typeface="Calibri" pitchFamily="34" charset="0"/>
                <a:ea typeface="Calibri" pitchFamily="34" charset="-122"/>
                <a:cs typeface="Calibri" pitchFamily="34" charset="-120"/>
              </a:rPr>
              <a:t> - Salary kab pay hui, wo date record karein</a:t>
            </a:r>
            <a:endParaRPr lang="en-US" sz="1300" dirty="0"/>
          </a:p>
        </p:txBody>
      </p:sp>
      <p:sp>
        <p:nvSpPr>
          <p:cNvPr id="10" name="Shape 8"/>
          <p:cNvSpPr/>
          <p:nvPr/>
        </p:nvSpPr>
        <p:spPr>
          <a:xfrm>
            <a:off x="640080" y="2852928"/>
            <a:ext cx="82296" cy="82296"/>
          </a:xfrm>
          <a:prstGeom prst="ellipse">
            <a:avLst/>
          </a:prstGeom>
          <a:solidFill>
            <a:srgbClr val="4F46E5"/>
          </a:solidFill>
          <a:ln/>
        </p:spPr>
      </p:sp>
      <p:sp>
        <p:nvSpPr>
          <p:cNvPr id="11" name="Text 9"/>
          <p:cNvSpPr/>
          <p:nvPr/>
        </p:nvSpPr>
        <p:spPr>
          <a:xfrm>
            <a:off x="822960" y="27432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Salary summary reports</a:t>
            </a:r>
            <a:pPr indent="0" marL="0">
              <a:buNone/>
            </a:pPr>
            <a:r>
              <a:rPr lang="en-US" sz="1300" dirty="0">
                <a:solidFill>
                  <a:srgbClr val="64748B"/>
                </a:solidFill>
                <a:latin typeface="Calibri" pitchFamily="34" charset="0"/>
                <a:ea typeface="Calibri" pitchFamily="34" charset="-122"/>
                <a:cs typeface="Calibri" pitchFamily="34" charset="-120"/>
              </a:rPr>
              <a:t> - Monthly, yearly salary ka summary dekhein</a:t>
            </a:r>
            <a:endParaRPr lang="en-US" sz="1300" dirty="0"/>
          </a:p>
        </p:txBody>
      </p:sp>
      <p:sp>
        <p:nvSpPr>
          <p:cNvPr id="12" name="Shape 10"/>
          <p:cNvSpPr/>
          <p:nvPr/>
        </p:nvSpPr>
        <p:spPr>
          <a:xfrm>
            <a:off x="640080" y="3310128"/>
            <a:ext cx="82296" cy="82296"/>
          </a:xfrm>
          <a:prstGeom prst="ellipse">
            <a:avLst/>
          </a:prstGeom>
          <a:solidFill>
            <a:srgbClr val="4F46E5"/>
          </a:solidFill>
          <a:ln/>
        </p:spPr>
      </p:sp>
      <p:sp>
        <p:nvSpPr>
          <p:cNvPr id="13" name="Text 11"/>
          <p:cNvSpPr/>
          <p:nvPr/>
        </p:nvSpPr>
        <p:spPr>
          <a:xfrm>
            <a:off x="822960" y="32004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Salary export karein</a:t>
            </a:r>
            <a:pPr indent="0" marL="0">
              <a:buNone/>
            </a:pPr>
            <a:r>
              <a:rPr lang="en-US" sz="1300" dirty="0">
                <a:solidFill>
                  <a:srgbClr val="64748B"/>
                </a:solidFill>
                <a:latin typeface="Calibri" pitchFamily="34" charset="0"/>
                <a:ea typeface="Calibri" pitchFamily="34" charset="-122"/>
                <a:cs typeface="Calibri" pitchFamily="34" charset="-120"/>
              </a:rPr>
              <a:t> - Saari salary details Excel mein download karein</a:t>
            </a:r>
            <a:endParaRPr lang="en-US" sz="1300" dirty="0"/>
          </a:p>
        </p:txBody>
      </p:sp>
      <p:sp>
        <p:nvSpPr>
          <p:cNvPr id="14" name="Shape 12"/>
          <p:cNvSpPr/>
          <p:nvPr/>
        </p:nvSpPr>
        <p:spPr>
          <a:xfrm>
            <a:off x="640080" y="3767328"/>
            <a:ext cx="82296" cy="82296"/>
          </a:xfrm>
          <a:prstGeom prst="ellipse">
            <a:avLst/>
          </a:prstGeom>
          <a:solidFill>
            <a:srgbClr val="4F46E5"/>
          </a:solidFill>
          <a:ln/>
        </p:spPr>
      </p:sp>
      <p:sp>
        <p:nvSpPr>
          <p:cNvPr id="15" name="Text 13"/>
          <p:cNvSpPr/>
          <p:nvPr/>
        </p:nvSpPr>
        <p:spPr>
          <a:xfrm>
            <a:off x="822960" y="36576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Advance deduction</a:t>
            </a:r>
            <a:pPr indent="0" marL="0">
              <a:buNone/>
            </a:pPr>
            <a:r>
              <a:rPr lang="en-US" sz="1300" dirty="0">
                <a:solidFill>
                  <a:srgbClr val="64748B"/>
                </a:solidFill>
                <a:latin typeface="Calibri" pitchFamily="34" charset="0"/>
                <a:ea typeface="Calibri" pitchFamily="34" charset="-122"/>
                <a:cs typeface="Calibri" pitchFamily="34" charset="-120"/>
              </a:rPr>
              <a:t> - Advances automatically salary se deduct hote hain</a:t>
            </a:r>
            <a:endParaRPr lang="en-US" sz="1300" dirty="0"/>
          </a:p>
        </p:txBody>
      </p:sp>
      <p:sp>
        <p:nvSpPr>
          <p:cNvPr id="16" name="Text 14"/>
          <p:cNvSpPr/>
          <p:nvPr/>
        </p:nvSpPr>
        <p:spPr>
          <a:xfrm>
            <a:off x="640080" y="4206240"/>
            <a:ext cx="7863840" cy="274320"/>
          </a:xfrm>
          <a:prstGeom prst="rect">
            <a:avLst/>
          </a:prstGeom>
          <a:noFill/>
          <a:ln/>
        </p:spPr>
        <p:txBody>
          <a:bodyPr wrap="square" rtlCol="0" anchor="ctr"/>
          <a:lstStyle/>
          <a:p>
            <a:pPr indent="0" marL="0">
              <a:buNone/>
            </a:pPr>
            <a:r>
              <a:rPr lang="en-US" sz="1100" dirty="0">
                <a:solidFill>
                  <a:srgbClr val="10B981"/>
                </a:solidFill>
                <a:latin typeface="Calibri" pitchFamily="34" charset="0"/>
                <a:ea typeface="Calibri" pitchFamily="34" charset="-122"/>
                <a:cs typeface="Calibri" pitchFamily="34" charset="-120"/>
              </a:rPr>
              <a:t>Tip: Pehle attendance verify karein, phir salary process karein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74320"/>
            <a:ext cx="7863840" cy="59436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Advances Management</a:t>
            </a:r>
            <a:endParaRPr lang="en-US" sz="2600" dirty="0"/>
          </a:p>
        </p:txBody>
      </p:sp>
      <p:sp>
        <p:nvSpPr>
          <p:cNvPr id="3" name="Text 1"/>
          <p:cNvSpPr/>
          <p:nvPr/>
        </p:nvSpPr>
        <p:spPr>
          <a:xfrm>
            <a:off x="640080" y="822960"/>
            <a:ext cx="7863840" cy="27432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Salary advances manage karein</a:t>
            </a:r>
            <a:endParaRPr lang="en-US" sz="1200" dirty="0"/>
          </a:p>
        </p:txBody>
      </p:sp>
      <p:sp>
        <p:nvSpPr>
          <p:cNvPr id="4" name="Shape 2"/>
          <p:cNvSpPr/>
          <p:nvPr/>
        </p:nvSpPr>
        <p:spPr>
          <a:xfrm>
            <a:off x="640080" y="1481328"/>
            <a:ext cx="82296" cy="82296"/>
          </a:xfrm>
          <a:prstGeom prst="ellipse">
            <a:avLst/>
          </a:prstGeom>
          <a:solidFill>
            <a:srgbClr val="4F46E5"/>
          </a:solidFill>
          <a:ln/>
        </p:spPr>
      </p:sp>
      <p:sp>
        <p:nvSpPr>
          <p:cNvPr id="5" name="Text 3"/>
          <p:cNvSpPr/>
          <p:nvPr/>
        </p:nvSpPr>
        <p:spPr>
          <a:xfrm>
            <a:off x="822960" y="13716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Advance request karein</a:t>
            </a:r>
            <a:pPr indent="0" marL="0">
              <a:buNone/>
            </a:pPr>
            <a:r>
              <a:rPr lang="en-US" sz="1300" dirty="0">
                <a:solidFill>
                  <a:srgbClr val="64748B"/>
                </a:solidFill>
                <a:latin typeface="Calibri" pitchFamily="34" charset="0"/>
                <a:ea typeface="Calibri" pitchFamily="34" charset="-122"/>
                <a:cs typeface="Calibri" pitchFamily="34" charset="-120"/>
              </a:rPr>
              <a:t> - Employee ki advance request create karein</a:t>
            </a:r>
            <a:endParaRPr lang="en-US" sz="1300" dirty="0"/>
          </a:p>
        </p:txBody>
      </p:sp>
      <p:sp>
        <p:nvSpPr>
          <p:cNvPr id="6" name="Shape 4"/>
          <p:cNvSpPr/>
          <p:nvPr/>
        </p:nvSpPr>
        <p:spPr>
          <a:xfrm>
            <a:off x="640080" y="1938528"/>
            <a:ext cx="82296" cy="82296"/>
          </a:xfrm>
          <a:prstGeom prst="ellipse">
            <a:avLst/>
          </a:prstGeom>
          <a:solidFill>
            <a:srgbClr val="4F46E5"/>
          </a:solidFill>
          <a:ln/>
        </p:spPr>
      </p:sp>
      <p:sp>
        <p:nvSpPr>
          <p:cNvPr id="7" name="Text 5"/>
          <p:cNvSpPr/>
          <p:nvPr/>
        </p:nvSpPr>
        <p:spPr>
          <a:xfrm>
            <a:off x="822960" y="18288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Approve ya Reject karein</a:t>
            </a:r>
            <a:pPr indent="0" marL="0">
              <a:buNone/>
            </a:pPr>
            <a:r>
              <a:rPr lang="en-US" sz="1300" dirty="0">
                <a:solidFill>
                  <a:srgbClr val="64748B"/>
                </a:solidFill>
                <a:latin typeface="Calibri" pitchFamily="34" charset="0"/>
                <a:ea typeface="Calibri" pitchFamily="34" charset="-122"/>
                <a:cs typeface="Calibri" pitchFamily="34" charset="-120"/>
              </a:rPr>
              <a:t> - Request review karein aur decision lein</a:t>
            </a:r>
            <a:endParaRPr lang="en-US" sz="1300" dirty="0"/>
          </a:p>
        </p:txBody>
      </p:sp>
      <p:sp>
        <p:nvSpPr>
          <p:cNvPr id="8" name="Shape 6"/>
          <p:cNvSpPr/>
          <p:nvPr/>
        </p:nvSpPr>
        <p:spPr>
          <a:xfrm>
            <a:off x="640080" y="2395728"/>
            <a:ext cx="82296" cy="82296"/>
          </a:xfrm>
          <a:prstGeom prst="ellipse">
            <a:avLst/>
          </a:prstGeom>
          <a:solidFill>
            <a:srgbClr val="4F46E5"/>
          </a:solidFill>
          <a:ln/>
        </p:spPr>
      </p:sp>
      <p:sp>
        <p:nvSpPr>
          <p:cNvPr id="9" name="Text 7"/>
          <p:cNvSpPr/>
          <p:nvPr/>
        </p:nvSpPr>
        <p:spPr>
          <a:xfrm>
            <a:off x="822960" y="22860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Payment date track karein</a:t>
            </a:r>
            <a:pPr indent="0" marL="0">
              <a:buNone/>
            </a:pPr>
            <a:r>
              <a:rPr lang="en-US" sz="1300" dirty="0">
                <a:solidFill>
                  <a:srgbClr val="64748B"/>
                </a:solidFill>
                <a:latin typeface="Calibri" pitchFamily="34" charset="0"/>
                <a:ea typeface="Calibri" pitchFamily="34" charset="-122"/>
                <a:cs typeface="Calibri" pitchFamily="34" charset="-120"/>
              </a:rPr>
              <a:t> - Advance kab pay hui wo record karein</a:t>
            </a:r>
            <a:endParaRPr lang="en-US" sz="1300" dirty="0"/>
          </a:p>
        </p:txBody>
      </p:sp>
      <p:sp>
        <p:nvSpPr>
          <p:cNvPr id="10" name="Shape 8"/>
          <p:cNvSpPr/>
          <p:nvPr/>
        </p:nvSpPr>
        <p:spPr>
          <a:xfrm>
            <a:off x="640080" y="2852928"/>
            <a:ext cx="82296" cy="82296"/>
          </a:xfrm>
          <a:prstGeom prst="ellipse">
            <a:avLst/>
          </a:prstGeom>
          <a:solidFill>
            <a:srgbClr val="4F46E5"/>
          </a:solidFill>
          <a:ln/>
        </p:spPr>
      </p:sp>
      <p:sp>
        <p:nvSpPr>
          <p:cNvPr id="11" name="Text 9"/>
          <p:cNvSpPr/>
          <p:nvPr/>
        </p:nvSpPr>
        <p:spPr>
          <a:xfrm>
            <a:off x="822960" y="27432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Advance summary dekhein</a:t>
            </a:r>
            <a:pPr indent="0" marL="0">
              <a:buNone/>
            </a:pPr>
            <a:r>
              <a:rPr lang="en-US" sz="1300" dirty="0">
                <a:solidFill>
                  <a:srgbClr val="64748B"/>
                </a:solidFill>
                <a:latin typeface="Calibri" pitchFamily="34" charset="0"/>
                <a:ea typeface="Calibri" pitchFamily="34" charset="-122"/>
                <a:cs typeface="Calibri" pitchFamily="34" charset="-120"/>
              </a:rPr>
              <a:t> - Total pending, paid, due amounts dikhein</a:t>
            </a:r>
            <a:endParaRPr lang="en-US" sz="1300" dirty="0"/>
          </a:p>
        </p:txBody>
      </p:sp>
      <p:sp>
        <p:nvSpPr>
          <p:cNvPr id="12" name="Shape 10"/>
          <p:cNvSpPr/>
          <p:nvPr/>
        </p:nvSpPr>
        <p:spPr>
          <a:xfrm>
            <a:off x="640080" y="3310128"/>
            <a:ext cx="82296" cy="82296"/>
          </a:xfrm>
          <a:prstGeom prst="ellipse">
            <a:avLst/>
          </a:prstGeom>
          <a:solidFill>
            <a:srgbClr val="4F46E5"/>
          </a:solidFill>
          <a:ln/>
        </p:spPr>
      </p:sp>
      <p:sp>
        <p:nvSpPr>
          <p:cNvPr id="13" name="Text 11"/>
          <p:cNvSpPr/>
          <p:nvPr/>
        </p:nvSpPr>
        <p:spPr>
          <a:xfrm>
            <a:off x="822960" y="3200400"/>
            <a:ext cx="768096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Export records</a:t>
            </a:r>
            <a:pPr indent="0" marL="0">
              <a:buNone/>
            </a:pPr>
            <a:r>
              <a:rPr lang="en-US" sz="1300" dirty="0">
                <a:solidFill>
                  <a:srgbClr val="64748B"/>
                </a:solidFill>
                <a:latin typeface="Calibri" pitchFamily="34" charset="0"/>
                <a:ea typeface="Calibri" pitchFamily="34" charset="-122"/>
                <a:cs typeface="Calibri" pitchFamily="34" charset="-120"/>
              </a:rPr>
              <a:t> - Saari advance details download karein</a:t>
            </a:r>
            <a:endParaRPr lang="en-US" sz="1300" dirty="0"/>
          </a:p>
        </p:txBody>
      </p:sp>
      <p:sp>
        <p:nvSpPr>
          <p:cNvPr id="14" name="Text 12"/>
          <p:cNvSpPr/>
          <p:nvPr/>
        </p:nvSpPr>
        <p:spPr>
          <a:xfrm>
            <a:off x="640080" y="4206240"/>
            <a:ext cx="7863840" cy="274320"/>
          </a:xfrm>
          <a:prstGeom prst="rect">
            <a:avLst/>
          </a:prstGeom>
          <a:noFill/>
          <a:ln/>
        </p:spPr>
        <p:txBody>
          <a:bodyPr wrap="square" rtlCol="0" anchor="ctr"/>
          <a:lstStyle/>
          <a:p>
            <a:pPr indent="0" marL="0">
              <a:buNone/>
            </a:pPr>
            <a:r>
              <a:rPr lang="en-US" sz="1100" dirty="0">
                <a:solidFill>
                  <a:srgbClr val="F59E0B"/>
                </a:solidFill>
                <a:latin typeface="Calibri" pitchFamily="34" charset="0"/>
                <a:ea typeface="Calibri" pitchFamily="34" charset="-122"/>
                <a:cs typeface="Calibri" pitchFamily="34" charset="-120"/>
              </a:rPr>
              <a:t>Note: Approved advances next salary se automatically deduct hote hain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74320"/>
            <a:ext cx="7863840" cy="59436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Clients &amp; Compliance</a:t>
            </a:r>
            <a:endParaRPr lang="en-US" sz="2600" dirty="0"/>
          </a:p>
        </p:txBody>
      </p:sp>
      <p:sp>
        <p:nvSpPr>
          <p:cNvPr id="3" name="Text 1"/>
          <p:cNvSpPr/>
          <p:nvPr/>
        </p:nvSpPr>
        <p:spPr>
          <a:xfrm>
            <a:off x="640080" y="822960"/>
            <a:ext cx="7863840" cy="27432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Client records aur compliance management</a:t>
            </a:r>
            <a:endParaRPr lang="en-US" sz="1200" dirty="0"/>
          </a:p>
        </p:txBody>
      </p:sp>
      <p:sp>
        <p:nvSpPr>
          <p:cNvPr id="4" name="Shape 2"/>
          <p:cNvSpPr/>
          <p:nvPr/>
        </p:nvSpPr>
        <p:spPr>
          <a:xfrm>
            <a:off x="640080" y="1371600"/>
            <a:ext cx="3657600" cy="2926080"/>
          </a:xfrm>
          <a:prstGeom prst="roundRect">
            <a:avLst>
              <a:gd name="adj" fmla="val 3125"/>
            </a:avLst>
          </a:prstGeom>
          <a:solidFill>
            <a:srgbClr val="FFFFFF"/>
          </a:solidFill>
          <a:ln w="12700">
            <a:solidFill>
              <a:srgbClr val="333333"/>
            </a:solidFill>
            <a:prstDash val="solid"/>
          </a:ln>
        </p:spPr>
      </p:sp>
      <p:sp>
        <p:nvSpPr>
          <p:cNvPr id="5" name="Text 3"/>
          <p:cNvSpPr/>
          <p:nvPr/>
        </p:nvSpPr>
        <p:spPr>
          <a:xfrm>
            <a:off x="822960" y="1481328"/>
            <a:ext cx="329184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Client Management</a:t>
            </a:r>
            <a:endParaRPr lang="en-US" sz="1300" dirty="0"/>
          </a:p>
        </p:txBody>
      </p:sp>
      <p:sp>
        <p:nvSpPr>
          <p:cNvPr id="6" name="Text 4"/>
          <p:cNvSpPr/>
          <p:nvPr/>
        </p:nvSpPr>
        <p:spPr>
          <a:xfrm>
            <a:off x="822960" y="1737360"/>
            <a:ext cx="3291840" cy="242316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Clients ki details add karein</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 Company name, contact info</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 Active/inactive status</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 View aur edit karein</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 Export client list</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 Client records update karein</a:t>
            </a:r>
            <a:endParaRPr lang="en-US" sz="1100" dirty="0"/>
          </a:p>
        </p:txBody>
      </p:sp>
      <p:sp>
        <p:nvSpPr>
          <p:cNvPr id="7" name="Shape 5"/>
          <p:cNvSpPr/>
          <p:nvPr/>
        </p:nvSpPr>
        <p:spPr>
          <a:xfrm>
            <a:off x="4846320" y="1371600"/>
            <a:ext cx="3657600" cy="2926080"/>
          </a:xfrm>
          <a:prstGeom prst="roundRect">
            <a:avLst>
              <a:gd name="adj" fmla="val 3125"/>
            </a:avLst>
          </a:prstGeom>
          <a:solidFill>
            <a:srgbClr val="FFFFFF"/>
          </a:solidFill>
          <a:ln w="12700">
            <a:solidFill>
              <a:srgbClr val="333333"/>
            </a:solidFill>
            <a:prstDash val="solid"/>
          </a:ln>
        </p:spPr>
      </p:sp>
      <p:sp>
        <p:nvSpPr>
          <p:cNvPr id="8" name="Text 6"/>
          <p:cNvSpPr/>
          <p:nvPr/>
        </p:nvSpPr>
        <p:spPr>
          <a:xfrm>
            <a:off x="5029200" y="1481328"/>
            <a:ext cx="329184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Compliance Tracking</a:t>
            </a:r>
            <a:endParaRPr lang="en-US" sz="1300" dirty="0"/>
          </a:p>
        </p:txBody>
      </p:sp>
      <p:sp>
        <p:nvSpPr>
          <p:cNvPr id="9" name="Text 7"/>
          <p:cNvSpPr/>
          <p:nvPr/>
        </p:nvSpPr>
        <p:spPr>
          <a:xfrm>
            <a:off x="5029200" y="1737360"/>
            <a:ext cx="3291840" cy="242316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Compliance records manage karein</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 Important dates track karein</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 Document status dekhein</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 Renewal reminders</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 Compliance reports export karein</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 Pending tasks dikhein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274320"/>
            <a:ext cx="7863840" cy="594360"/>
          </a:xfrm>
          <a:prstGeom prst="rect">
            <a:avLst/>
          </a:prstGeom>
          <a:noFill/>
          <a:ln/>
        </p:spPr>
        <p:txBody>
          <a:bodyPr wrap="square" rtlCol="0" anchor="ctr"/>
          <a:lstStyle/>
          <a:p>
            <a:pPr indent="0" marL="0">
              <a:buNone/>
            </a:pPr>
            <a:r>
              <a:rPr lang="en-US" sz="2600" b="1" dirty="0">
                <a:solidFill>
                  <a:srgbClr val="0F172A"/>
                </a:solidFill>
                <a:latin typeface="Cambria" pitchFamily="34" charset="0"/>
                <a:ea typeface="Cambria" pitchFamily="34" charset="-122"/>
                <a:cs typeface="Cambria" pitchFamily="34" charset="-120"/>
              </a:rPr>
              <a:t>Employee Portal (Self Service)</a:t>
            </a:r>
            <a:endParaRPr lang="en-US" sz="2600" dirty="0"/>
          </a:p>
        </p:txBody>
      </p:sp>
      <p:sp>
        <p:nvSpPr>
          <p:cNvPr id="3" name="Text 1"/>
          <p:cNvSpPr/>
          <p:nvPr/>
        </p:nvSpPr>
        <p:spPr>
          <a:xfrm>
            <a:off x="640080" y="822960"/>
            <a:ext cx="7863840" cy="27432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Employees khud apna data dekh sakte hain</a:t>
            </a:r>
            <a:endParaRPr lang="en-US" sz="1200" dirty="0"/>
          </a:p>
        </p:txBody>
      </p:sp>
      <p:sp>
        <p:nvSpPr>
          <p:cNvPr id="4" name="Text 2"/>
          <p:cNvSpPr/>
          <p:nvPr/>
        </p:nvSpPr>
        <p:spPr>
          <a:xfrm>
            <a:off x="640080" y="1097280"/>
            <a:ext cx="7863840" cy="32004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Employee Portal alag hai - sirf employees ke liye. Yahan employees khud apni information dekh sakte hain.</a:t>
            </a:r>
            <a:endParaRPr lang="en-US" sz="1300" dirty="0"/>
          </a:p>
        </p:txBody>
      </p:sp>
      <p:sp>
        <p:nvSpPr>
          <p:cNvPr id="5" name="Shape 3"/>
          <p:cNvSpPr/>
          <p:nvPr/>
        </p:nvSpPr>
        <p:spPr>
          <a:xfrm>
            <a:off x="640080" y="1673352"/>
            <a:ext cx="365760" cy="365760"/>
          </a:xfrm>
          <a:prstGeom prst="ellipse">
            <a:avLst/>
          </a:prstGeom>
          <a:solidFill>
            <a:srgbClr val="4F46E5"/>
          </a:solidFill>
          <a:ln/>
        </p:spPr>
      </p:sp>
      <p:sp>
        <p:nvSpPr>
          <p:cNvPr id="6" name="Text 4"/>
          <p:cNvSpPr/>
          <p:nvPr/>
        </p:nvSpPr>
        <p:spPr>
          <a:xfrm>
            <a:off x="640080" y="1673352"/>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43000" y="1645920"/>
            <a:ext cx="7360920" cy="22860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Signup karein</a:t>
            </a:r>
            <a:endParaRPr lang="en-US" sz="1400" dirty="0"/>
          </a:p>
        </p:txBody>
      </p:sp>
      <p:sp>
        <p:nvSpPr>
          <p:cNvPr id="8" name="Text 6"/>
          <p:cNvSpPr/>
          <p:nvPr/>
        </p:nvSpPr>
        <p:spPr>
          <a:xfrm>
            <a:off x="1143000" y="1874520"/>
            <a:ext cx="7360920" cy="27432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Naye employee ka signup page kholein aur OTP se verify karein</a:t>
            </a:r>
            <a:endParaRPr lang="en-US" sz="1100" dirty="0"/>
          </a:p>
        </p:txBody>
      </p:sp>
      <p:sp>
        <p:nvSpPr>
          <p:cNvPr id="9" name="Shape 7"/>
          <p:cNvSpPr/>
          <p:nvPr/>
        </p:nvSpPr>
        <p:spPr>
          <a:xfrm>
            <a:off x="640080" y="2221992"/>
            <a:ext cx="365760" cy="365760"/>
          </a:xfrm>
          <a:prstGeom prst="ellipse">
            <a:avLst/>
          </a:prstGeom>
          <a:solidFill>
            <a:srgbClr val="4F46E5"/>
          </a:solidFill>
          <a:ln/>
        </p:spPr>
      </p:sp>
      <p:sp>
        <p:nvSpPr>
          <p:cNvPr id="10" name="Text 8"/>
          <p:cNvSpPr/>
          <p:nvPr/>
        </p:nvSpPr>
        <p:spPr>
          <a:xfrm>
            <a:off x="640080" y="2221992"/>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143000" y="2194560"/>
            <a:ext cx="7360920" cy="22860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Login karein</a:t>
            </a:r>
            <a:endParaRPr lang="en-US" sz="1400" dirty="0"/>
          </a:p>
        </p:txBody>
      </p:sp>
      <p:sp>
        <p:nvSpPr>
          <p:cNvPr id="12" name="Text 10"/>
          <p:cNvSpPr/>
          <p:nvPr/>
        </p:nvSpPr>
        <p:spPr>
          <a:xfrm>
            <a:off x="1143000" y="2423160"/>
            <a:ext cx="7360920" cy="27432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Apna username aur password set karein, phir login karein</a:t>
            </a:r>
            <a:endParaRPr lang="en-US" sz="1100" dirty="0"/>
          </a:p>
        </p:txBody>
      </p:sp>
      <p:sp>
        <p:nvSpPr>
          <p:cNvPr id="13" name="Shape 11"/>
          <p:cNvSpPr/>
          <p:nvPr/>
        </p:nvSpPr>
        <p:spPr>
          <a:xfrm>
            <a:off x="640080" y="2770632"/>
            <a:ext cx="365760" cy="365760"/>
          </a:xfrm>
          <a:prstGeom prst="ellipse">
            <a:avLst/>
          </a:prstGeom>
          <a:solidFill>
            <a:srgbClr val="4F46E5"/>
          </a:solidFill>
          <a:ln/>
        </p:spPr>
      </p:sp>
      <p:sp>
        <p:nvSpPr>
          <p:cNvPr id="14" name="Text 12"/>
          <p:cNvSpPr/>
          <p:nvPr/>
        </p:nvSpPr>
        <p:spPr>
          <a:xfrm>
            <a:off x="640080" y="2770632"/>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143000" y="2743200"/>
            <a:ext cx="7360920" cy="22860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Attendance dekhein</a:t>
            </a:r>
            <a:endParaRPr lang="en-US" sz="1400" dirty="0"/>
          </a:p>
        </p:txBody>
      </p:sp>
      <p:sp>
        <p:nvSpPr>
          <p:cNvPr id="16" name="Text 14"/>
          <p:cNvSpPr/>
          <p:nvPr/>
        </p:nvSpPr>
        <p:spPr>
          <a:xfrm>
            <a:off x="1143000" y="2971800"/>
            <a:ext cx="7360920" cy="27432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Apna poora attendance record check karein</a:t>
            </a:r>
            <a:endParaRPr lang="en-US" sz="1100" dirty="0"/>
          </a:p>
        </p:txBody>
      </p:sp>
      <p:sp>
        <p:nvSpPr>
          <p:cNvPr id="17" name="Shape 15"/>
          <p:cNvSpPr/>
          <p:nvPr/>
        </p:nvSpPr>
        <p:spPr>
          <a:xfrm>
            <a:off x="640080" y="3319272"/>
            <a:ext cx="365760" cy="365760"/>
          </a:xfrm>
          <a:prstGeom prst="ellipse">
            <a:avLst/>
          </a:prstGeom>
          <a:solidFill>
            <a:srgbClr val="4F46E5"/>
          </a:solidFill>
          <a:ln/>
        </p:spPr>
      </p:sp>
      <p:sp>
        <p:nvSpPr>
          <p:cNvPr id="18" name="Text 16"/>
          <p:cNvSpPr/>
          <p:nvPr/>
        </p:nvSpPr>
        <p:spPr>
          <a:xfrm>
            <a:off x="640080" y="3319272"/>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143000" y="3291840"/>
            <a:ext cx="7360920" cy="22860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Salary dekhein</a:t>
            </a:r>
            <a:endParaRPr lang="en-US" sz="1400" dirty="0"/>
          </a:p>
        </p:txBody>
      </p:sp>
      <p:sp>
        <p:nvSpPr>
          <p:cNvPr id="20" name="Text 18"/>
          <p:cNvSpPr/>
          <p:nvPr/>
        </p:nvSpPr>
        <p:spPr>
          <a:xfrm>
            <a:off x="1143000" y="3520440"/>
            <a:ext cx="7360920" cy="27432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Apni salary slips aur payment details dekhein</a:t>
            </a:r>
            <a:endParaRPr lang="en-US" sz="1100" dirty="0"/>
          </a:p>
        </p:txBody>
      </p:sp>
      <p:sp>
        <p:nvSpPr>
          <p:cNvPr id="21" name="Shape 19"/>
          <p:cNvSpPr/>
          <p:nvPr/>
        </p:nvSpPr>
        <p:spPr>
          <a:xfrm>
            <a:off x="640080" y="3867912"/>
            <a:ext cx="365760" cy="365760"/>
          </a:xfrm>
          <a:prstGeom prst="ellipse">
            <a:avLst/>
          </a:prstGeom>
          <a:solidFill>
            <a:srgbClr val="4F46E5"/>
          </a:solidFill>
          <a:ln/>
        </p:spPr>
      </p:sp>
      <p:sp>
        <p:nvSpPr>
          <p:cNvPr id="22" name="Text 20"/>
          <p:cNvSpPr/>
          <p:nvPr/>
        </p:nvSpPr>
        <p:spPr>
          <a:xfrm>
            <a:off x="640080" y="3867912"/>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1143000" y="3840480"/>
            <a:ext cx="7360920" cy="22860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Advance request karein</a:t>
            </a:r>
            <a:endParaRPr lang="en-US" sz="1400" dirty="0"/>
          </a:p>
        </p:txBody>
      </p:sp>
      <p:sp>
        <p:nvSpPr>
          <p:cNvPr id="24" name="Text 22"/>
          <p:cNvSpPr/>
          <p:nvPr/>
        </p:nvSpPr>
        <p:spPr>
          <a:xfrm>
            <a:off x="1143000" y="4069080"/>
            <a:ext cx="7360920" cy="27432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Salary advance ke liye request submit karein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0" y="274320"/>
            <a:ext cx="9144000" cy="73152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Tips &amp; Support</a:t>
            </a:r>
            <a:endParaRPr lang="en-US" sz="3200" dirty="0"/>
          </a:p>
        </p:txBody>
      </p:sp>
      <p:sp>
        <p:nvSpPr>
          <p:cNvPr id="3" name="Text 1"/>
          <p:cNvSpPr/>
          <p:nvPr/>
        </p:nvSpPr>
        <p:spPr>
          <a:xfrm>
            <a:off x="640080" y="1188720"/>
            <a:ext cx="3657600" cy="365760"/>
          </a:xfrm>
          <a:prstGeom prst="rect">
            <a:avLst/>
          </a:prstGeom>
          <a:noFill/>
          <a:ln/>
        </p:spPr>
        <p:txBody>
          <a:bodyPr wrap="square" rtlCol="0" anchor="ctr"/>
          <a:lstStyle/>
          <a:p>
            <a:pPr indent="0" marL="0">
              <a:buNone/>
            </a:pPr>
            <a:r>
              <a:rPr lang="en-US" sz="1800" b="1" dirty="0">
                <a:solidFill>
                  <a:srgbClr val="A5B4FC"/>
                </a:solidFill>
                <a:latin typeface="Calibri" pitchFamily="34" charset="0"/>
                <a:ea typeface="Calibri" pitchFamily="34" charset="-122"/>
                <a:cs typeface="Calibri" pitchFamily="34" charset="-120"/>
              </a:rPr>
              <a:t>Tips</a:t>
            </a:r>
            <a:endParaRPr lang="en-US" sz="1800" dirty="0"/>
          </a:p>
        </p:txBody>
      </p:sp>
      <p:sp>
        <p:nvSpPr>
          <p:cNvPr id="4" name="Shape 2"/>
          <p:cNvSpPr/>
          <p:nvPr/>
        </p:nvSpPr>
        <p:spPr>
          <a:xfrm>
            <a:off x="640080" y="1700784"/>
            <a:ext cx="91440" cy="91440"/>
          </a:xfrm>
          <a:prstGeom prst="ellipse">
            <a:avLst/>
          </a:prstGeom>
          <a:solidFill>
            <a:srgbClr val="4F46E5"/>
          </a:solidFill>
          <a:ln/>
        </p:spPr>
      </p:sp>
      <p:sp>
        <p:nvSpPr>
          <p:cNvPr id="5" name="Text 3"/>
          <p:cNvSpPr/>
          <p:nvPr/>
        </p:nvSpPr>
        <p:spPr>
          <a:xfrm>
            <a:off x="914400" y="1645920"/>
            <a:ext cx="4114800" cy="3200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Keep app updated for best experience</a:t>
            </a:r>
            <a:endParaRPr lang="en-US" sz="1300" dirty="0"/>
          </a:p>
        </p:txBody>
      </p:sp>
      <p:sp>
        <p:nvSpPr>
          <p:cNvPr id="6" name="Shape 4"/>
          <p:cNvSpPr/>
          <p:nvPr/>
        </p:nvSpPr>
        <p:spPr>
          <a:xfrm>
            <a:off x="640080" y="2112264"/>
            <a:ext cx="91440" cy="91440"/>
          </a:xfrm>
          <a:prstGeom prst="ellipse">
            <a:avLst/>
          </a:prstGeom>
          <a:solidFill>
            <a:srgbClr val="4F46E5"/>
          </a:solidFill>
          <a:ln/>
        </p:spPr>
      </p:sp>
      <p:sp>
        <p:nvSpPr>
          <p:cNvPr id="7" name="Text 5"/>
          <p:cNvSpPr/>
          <p:nvPr/>
        </p:nvSpPr>
        <p:spPr>
          <a:xfrm>
            <a:off x="914400" y="2057400"/>
            <a:ext cx="4114800" cy="3200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Use Chrome browser for PWA install</a:t>
            </a:r>
            <a:endParaRPr lang="en-US" sz="1300" dirty="0"/>
          </a:p>
        </p:txBody>
      </p:sp>
      <p:sp>
        <p:nvSpPr>
          <p:cNvPr id="8" name="Shape 6"/>
          <p:cNvSpPr/>
          <p:nvPr/>
        </p:nvSpPr>
        <p:spPr>
          <a:xfrm>
            <a:off x="640080" y="2523744"/>
            <a:ext cx="91440" cy="91440"/>
          </a:xfrm>
          <a:prstGeom prst="ellipse">
            <a:avLst/>
          </a:prstGeom>
          <a:solidFill>
            <a:srgbClr val="4F46E5"/>
          </a:solidFill>
          <a:ln/>
        </p:spPr>
      </p:sp>
      <p:sp>
        <p:nvSpPr>
          <p:cNvPr id="9" name="Text 7"/>
          <p:cNvSpPr/>
          <p:nvPr/>
        </p:nvSpPr>
        <p:spPr>
          <a:xfrm>
            <a:off x="914400" y="2468880"/>
            <a:ext cx="4114800" cy="3200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Check-in/Check-out regularly for attendance</a:t>
            </a:r>
            <a:endParaRPr lang="en-US" sz="1300" dirty="0"/>
          </a:p>
        </p:txBody>
      </p:sp>
      <p:sp>
        <p:nvSpPr>
          <p:cNvPr id="10" name="Shape 8"/>
          <p:cNvSpPr/>
          <p:nvPr/>
        </p:nvSpPr>
        <p:spPr>
          <a:xfrm>
            <a:off x="640080" y="2935224"/>
            <a:ext cx="91440" cy="91440"/>
          </a:xfrm>
          <a:prstGeom prst="ellipse">
            <a:avLst/>
          </a:prstGeom>
          <a:solidFill>
            <a:srgbClr val="4F46E5"/>
          </a:solidFill>
          <a:ln/>
        </p:spPr>
      </p:sp>
      <p:sp>
        <p:nvSpPr>
          <p:cNvPr id="11" name="Text 9"/>
          <p:cNvSpPr/>
          <p:nvPr/>
        </p:nvSpPr>
        <p:spPr>
          <a:xfrm>
            <a:off x="914400" y="2880360"/>
            <a:ext cx="4114800" cy="3200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Contact admin for login issues</a:t>
            </a:r>
            <a:endParaRPr lang="en-US" sz="1300" dirty="0"/>
          </a:p>
        </p:txBody>
      </p:sp>
      <p:sp>
        <p:nvSpPr>
          <p:cNvPr id="12" name="Shape 10"/>
          <p:cNvSpPr/>
          <p:nvPr/>
        </p:nvSpPr>
        <p:spPr>
          <a:xfrm>
            <a:off x="640080" y="3346704"/>
            <a:ext cx="91440" cy="91440"/>
          </a:xfrm>
          <a:prstGeom prst="ellipse">
            <a:avLst/>
          </a:prstGeom>
          <a:solidFill>
            <a:srgbClr val="4F46E5"/>
          </a:solidFill>
          <a:ln/>
        </p:spPr>
      </p:sp>
      <p:sp>
        <p:nvSpPr>
          <p:cNvPr id="13" name="Text 11"/>
          <p:cNvSpPr/>
          <p:nvPr/>
        </p:nvSpPr>
        <p:spPr>
          <a:xfrm>
            <a:off x="914400" y="3291840"/>
            <a:ext cx="4114800" cy="3200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Clear site data agar koi problem aaye</a:t>
            </a:r>
            <a:endParaRPr lang="en-US" sz="1300" dirty="0"/>
          </a:p>
        </p:txBody>
      </p:sp>
      <p:sp>
        <p:nvSpPr>
          <p:cNvPr id="14" name="Shape 12"/>
          <p:cNvSpPr/>
          <p:nvPr/>
        </p:nvSpPr>
        <p:spPr>
          <a:xfrm>
            <a:off x="640080" y="3758184"/>
            <a:ext cx="91440" cy="91440"/>
          </a:xfrm>
          <a:prstGeom prst="ellipse">
            <a:avLst/>
          </a:prstGeom>
          <a:solidFill>
            <a:srgbClr val="4F46E5"/>
          </a:solidFill>
          <a:ln/>
        </p:spPr>
      </p:sp>
      <p:sp>
        <p:nvSpPr>
          <p:cNvPr id="15" name="Text 13"/>
          <p:cNvSpPr/>
          <p:nvPr/>
        </p:nvSpPr>
        <p:spPr>
          <a:xfrm>
            <a:off x="914400" y="3703320"/>
            <a:ext cx="4114800" cy="3200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Desktop par full features available hain</a:t>
            </a:r>
            <a:endParaRPr lang="en-US" sz="1300" dirty="0"/>
          </a:p>
        </p:txBody>
      </p:sp>
      <p:sp>
        <p:nvSpPr>
          <p:cNvPr id="16" name="Text 14"/>
          <p:cNvSpPr/>
          <p:nvPr/>
        </p:nvSpPr>
        <p:spPr>
          <a:xfrm>
            <a:off x="5029200" y="1188720"/>
            <a:ext cx="3657600" cy="365760"/>
          </a:xfrm>
          <a:prstGeom prst="rect">
            <a:avLst/>
          </a:prstGeom>
          <a:noFill/>
          <a:ln/>
        </p:spPr>
        <p:txBody>
          <a:bodyPr wrap="square" rtlCol="0" anchor="ctr"/>
          <a:lstStyle/>
          <a:p>
            <a:pPr indent="0" marL="0">
              <a:buNone/>
            </a:pPr>
            <a:r>
              <a:rPr lang="en-US" sz="1800" b="1" dirty="0">
                <a:solidFill>
                  <a:srgbClr val="A5B4FC"/>
                </a:solidFill>
                <a:latin typeface="Calibri" pitchFamily="34" charset="0"/>
                <a:ea typeface="Calibri" pitchFamily="34" charset="-122"/>
                <a:cs typeface="Calibri" pitchFamily="34" charset="-120"/>
              </a:rPr>
              <a:t>Contact Support</a:t>
            </a:r>
            <a:endParaRPr lang="en-US" sz="1800" dirty="0"/>
          </a:p>
        </p:txBody>
      </p:sp>
      <p:sp>
        <p:nvSpPr>
          <p:cNvPr id="17" name="Shape 15"/>
          <p:cNvSpPr/>
          <p:nvPr/>
        </p:nvSpPr>
        <p:spPr>
          <a:xfrm>
            <a:off x="5029200" y="1645920"/>
            <a:ext cx="3657600" cy="1188720"/>
          </a:xfrm>
          <a:prstGeom prst="roundRect">
            <a:avLst>
              <a:gd name="adj" fmla="val 7692"/>
            </a:avLst>
          </a:prstGeom>
          <a:solidFill>
            <a:srgbClr val="FFFFFF"/>
          </a:solidFill>
          <a:ln w="12700">
            <a:solidFill>
              <a:srgbClr val="333333"/>
            </a:solidFill>
            <a:prstDash val="solid"/>
          </a:ln>
        </p:spPr>
      </p:sp>
      <p:sp>
        <p:nvSpPr>
          <p:cNvPr id="18" name="Text 16"/>
          <p:cNvSpPr/>
          <p:nvPr/>
        </p:nvSpPr>
        <p:spPr>
          <a:xfrm>
            <a:off x="5212080" y="1755648"/>
            <a:ext cx="329184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Admin Login Issue</a:t>
            </a:r>
            <a:endParaRPr lang="en-US" sz="1300" dirty="0"/>
          </a:p>
        </p:txBody>
      </p:sp>
      <p:sp>
        <p:nvSpPr>
          <p:cNvPr id="19" name="Text 17"/>
          <p:cNvSpPr/>
          <p:nvPr/>
        </p:nvSpPr>
        <p:spPr>
          <a:xfrm>
            <a:off x="5212080" y="2011680"/>
            <a:ext cx="3291840" cy="685800"/>
          </a:xfrm>
          <a:prstGeom prst="rect">
            <a:avLst/>
          </a:prstGeom>
          <a:noFill/>
          <a:ln/>
        </p:spPr>
        <p:txBody>
          <a:bodyPr wrap="square" rtlCol="0" anchor="t"/>
          <a:lstStyle/>
          <a:p>
            <a:pPr indent="0" marL="0">
              <a:buNone/>
            </a:pPr>
            <a:r>
              <a:rPr lang="en-US" sz="1100" dirty="0">
                <a:solidFill>
                  <a:srgbClr val="64748B"/>
                </a:solidFill>
                <a:latin typeface="Calibri" pitchFamily="34" charset="0"/>
                <a:ea typeface="Calibri" pitchFamily="34" charset="-122"/>
                <a:cs typeface="Calibri" pitchFamily="34" charset="-120"/>
              </a:rPr>
              <a:t>Admin se baat karein - wo login credentials bhej denge</a:t>
            </a:r>
            <a:endParaRPr lang="en-US" sz="1100" dirty="0"/>
          </a:p>
        </p:txBody>
      </p:sp>
      <p:sp>
        <p:nvSpPr>
          <p:cNvPr id="20" name="Shape 18"/>
          <p:cNvSpPr/>
          <p:nvPr/>
        </p:nvSpPr>
        <p:spPr>
          <a:xfrm>
            <a:off x="5029200" y="3017520"/>
            <a:ext cx="3657600" cy="1645920"/>
          </a:xfrm>
          <a:prstGeom prst="roundRect">
            <a:avLst>
              <a:gd name="adj" fmla="val 5556"/>
            </a:avLst>
          </a:prstGeom>
          <a:solidFill>
            <a:srgbClr val="4F46E5"/>
          </a:solidFill>
          <a:ln/>
        </p:spPr>
      </p:sp>
      <p:sp>
        <p:nvSpPr>
          <p:cNvPr id="21" name="Text 19"/>
          <p:cNvSpPr/>
          <p:nvPr/>
        </p:nvSpPr>
        <p:spPr>
          <a:xfrm>
            <a:off x="5029200" y="3200400"/>
            <a:ext cx="365760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Website</a:t>
            </a:r>
            <a:endParaRPr lang="en-US" sz="1400" dirty="0"/>
          </a:p>
        </p:txBody>
      </p:sp>
      <p:sp>
        <p:nvSpPr>
          <p:cNvPr id="22" name="Text 20"/>
          <p:cNvSpPr/>
          <p:nvPr/>
        </p:nvSpPr>
        <p:spPr>
          <a:xfrm>
            <a:off x="5029200" y="3520440"/>
            <a:ext cx="3657600" cy="274320"/>
          </a:xfrm>
          <a:prstGeom prst="rect">
            <a:avLst/>
          </a:prstGeom>
          <a:noFill/>
          <a:ln/>
        </p:spPr>
        <p:txBody>
          <a:bodyPr wrap="square" rtlCol="0" anchor="ctr"/>
          <a:lstStyle/>
          <a:p>
            <a:pPr algn="ctr" indent="0" marL="0">
              <a:buNone/>
            </a:pPr>
            <a:r>
              <a:rPr lang="en-US" sz="1300" dirty="0">
                <a:solidFill>
                  <a:srgbClr val="A5B4FC"/>
                </a:solidFill>
                <a:latin typeface="Calibri" pitchFamily="34" charset="0"/>
                <a:ea typeface="Calibri" pitchFamily="34" charset="-122"/>
                <a:cs typeface="Calibri" pitchFamily="34" charset="-120"/>
              </a:rPr>
              <a:t>www.arnav-enterprises.com</a:t>
            </a:r>
            <a:endParaRPr lang="en-US" sz="1300" dirty="0"/>
          </a:p>
        </p:txBody>
      </p:sp>
      <p:sp>
        <p:nvSpPr>
          <p:cNvPr id="23" name="Text 21"/>
          <p:cNvSpPr/>
          <p:nvPr/>
        </p:nvSpPr>
        <p:spPr>
          <a:xfrm>
            <a:off x="5029200" y="3840480"/>
            <a:ext cx="3657600" cy="27432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Support available during office hours</a:t>
            </a:r>
            <a:endParaRPr lang="en-US" sz="1100" dirty="0"/>
          </a:p>
        </p:txBody>
      </p:sp>
      <p:sp>
        <p:nvSpPr>
          <p:cNvPr id="24" name="Text 22"/>
          <p:cNvSpPr/>
          <p:nvPr/>
        </p:nvSpPr>
        <p:spPr>
          <a:xfrm>
            <a:off x="5029200" y="4160520"/>
            <a:ext cx="3657600" cy="27432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AEMS v16.2.10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AEMS App Usage Guide</dc:title>
  <dc:subject>PptxGenJS Presentation</dc:subject>
  <dc:creator>Arnav Enterprises</dc:creator>
  <cp:lastModifiedBy>Arnav Enterprises</cp:lastModifiedBy>
  <cp:revision>1</cp:revision>
  <dcterms:created xsi:type="dcterms:W3CDTF">2026-07-25T13:44:13Z</dcterms:created>
  <dcterms:modified xsi:type="dcterms:W3CDTF">2026-07-25T13:44:13Z</dcterms:modified>
</cp:coreProperties>
</file>